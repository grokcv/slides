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9"/>
  </p:notesMasterIdLst>
  <p:handoutMasterIdLst>
    <p:handoutMasterId r:id="rId20"/>
  </p:handoutMasterIdLst>
  <p:sldIdLst>
    <p:sldId id="439" r:id="rId3"/>
    <p:sldId id="2039" r:id="rId4"/>
    <p:sldId id="2052" r:id="rId5"/>
    <p:sldId id="2045" r:id="rId6"/>
    <p:sldId id="2043" r:id="rId7"/>
    <p:sldId id="2046" r:id="rId8"/>
    <p:sldId id="2042" r:id="rId9"/>
    <p:sldId id="2047" r:id="rId10"/>
    <p:sldId id="2040" r:id="rId11"/>
    <p:sldId id="2048" r:id="rId12"/>
    <p:sldId id="2041" r:id="rId13"/>
    <p:sldId id="2049" r:id="rId14"/>
    <p:sldId id="2044" r:id="rId15"/>
    <p:sldId id="2051" r:id="rId16"/>
    <p:sldId id="2050" r:id="rId17"/>
    <p:sldId id="202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597"/>
    <a:srgbClr val="2E75B6"/>
    <a:srgbClr val="54C3F4"/>
    <a:srgbClr val="984378"/>
    <a:srgbClr val="FFFFFF"/>
    <a:srgbClr val="22304B"/>
    <a:srgbClr val="C77FAC"/>
    <a:srgbClr val="0062AC"/>
    <a:srgbClr val="ED6C00"/>
    <a:srgbClr val="E22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4700" autoAdjust="0"/>
  </p:normalViewPr>
  <p:slideViewPr>
    <p:cSldViewPr snapToGrid="0">
      <p:cViewPr varScale="1">
        <p:scale>
          <a:sx n="108" d="100"/>
          <a:sy n="108" d="100"/>
        </p:scale>
        <p:origin x="390" y="78"/>
      </p:cViewPr>
      <p:guideLst/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50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02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47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20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4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1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11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73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40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9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12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66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41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A1D2-54D1-7C9B-B30F-12E1C117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2A482B-DE43-A35C-1E47-BB67729EA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5BD21-325E-FD1C-9A25-1D45004EF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8230FB-2484-170A-0A1B-8724A4672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03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49D0-8C3B-D31B-0458-3FDF727F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658DEB-10E2-91CF-8D4F-EBCA085BA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012743-EF4D-4CD9-9447-6280EE752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FB5701-2136-52A8-9B75-96B7994C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9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852551"/>
          </a:xfrm>
          <a:solidFill>
            <a:srgbClr val="0062AC"/>
          </a:solidFill>
        </p:spPr>
        <p:txBody>
          <a:bodyPr anchor="ctr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defRPr sz="4000" b="1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>
              <a:lnSpc>
                <a:spcPct val="120000"/>
              </a:lnSpc>
              <a:defRPr sz="3200" b="1" i="0" baseline="0"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defRPr sz="3000" b="0" i="0" baseline="0">
                <a:ea typeface="华文楷体" panose="02010600040101010101" pitchFamily="2" charset="-122"/>
              </a:defRPr>
            </a:lvl2pPr>
            <a:lvl3pPr>
              <a:lnSpc>
                <a:spcPct val="120000"/>
              </a:lnSpc>
              <a:defRPr sz="2800" b="0" i="0" baseline="0">
                <a:ea typeface="华文新魏" panose="02010800040101010101" pitchFamily="2" charset="-122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1"/>
            <a:ext cx="12192000" cy="0"/>
          </a:xfrm>
          <a:prstGeom prst="line">
            <a:avLst/>
          </a:prstGeom>
          <a:noFill/>
          <a:ln w="25400">
            <a:solidFill>
              <a:srgbClr val="0062AC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1178636" cy="890648"/>
          </a:xfrm>
          <a:prstGeom prst="rect">
            <a:avLst/>
          </a:prstGeom>
          <a:solidFill>
            <a:srgbClr val="0062A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</a:rPr>
              <a:t>大规模图像的多粒度目标检测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程明明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http://mmcheng.net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hyperlink" Target="https://github.com/GrokCV/SeqCSIST" TargetMode="External"/><Relationship Id="rId4" Type="http://schemas.openxmlformats.org/officeDocument/2006/relationships/hyperlink" Target="https://arxiv.org/abs/2507.09556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09556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ithub.com/GrokCV/AuxD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Calibri" panose="020F0502020204030204" pitchFamily="34" charset="0"/>
                <a:ea typeface="黑体" panose="02010609060101010101" pitchFamily="49" charset="-122"/>
              </a:rPr>
              <a:t>[TGRS 2025] SeqCSIST: Sequential Closely-Spaced Infrared Small Target Unmixing</a:t>
            </a:r>
            <a:endParaRPr lang="zh-CN" altLang="en-US" sz="5400" b="1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F187D5-38D0-4E91-9C49-EE000CD0CDB5}"/>
              </a:ext>
            </a:extLst>
          </p:cNvPr>
          <p:cNvSpPr txBox="1"/>
          <p:nvPr/>
        </p:nvSpPr>
        <p:spPr>
          <a:xfrm>
            <a:off x="299633" y="3929541"/>
            <a:ext cx="11592732" cy="5284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r>
              <a:rPr lang="en-US" altLang="zh-CN" dirty="0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Ximeng Zhai, </a:t>
            </a:r>
            <a:r>
              <a:rPr lang="en-US" altLang="zh-CN" dirty="0" err="1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Bohan</a:t>
            </a:r>
            <a:r>
              <a:rPr lang="en-US" altLang="zh-CN" dirty="0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Xu, </a:t>
            </a:r>
            <a:r>
              <a:rPr lang="en-US" altLang="zh-CN" dirty="0" err="1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Yaohong</a:t>
            </a:r>
            <a:r>
              <a:rPr lang="en-US" altLang="zh-CN" dirty="0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Chen, Hao Wang, </a:t>
            </a:r>
            <a:r>
              <a:rPr lang="en-US" altLang="zh-CN" dirty="0" err="1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Kehua</a:t>
            </a:r>
            <a:r>
              <a:rPr lang="en-US" altLang="zh-CN" dirty="0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Guo, </a:t>
            </a:r>
            <a:r>
              <a:rPr lang="en-US" altLang="zh-CN" dirty="0" err="1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Yimian</a:t>
            </a:r>
            <a:r>
              <a:rPr lang="en-US" altLang="zh-CN" dirty="0">
                <a:ln w="0"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Dai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E86AC8B-039B-4E0D-B9F8-864373079119}"/>
              </a:ext>
            </a:extLst>
          </p:cNvPr>
          <p:cNvSpPr txBox="1"/>
          <p:nvPr/>
        </p:nvSpPr>
        <p:spPr>
          <a:xfrm>
            <a:off x="5314105" y="5168683"/>
            <a:ext cx="3945303" cy="9606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 err="1">
                <a:ln w="0"/>
                <a:ea typeface="华文楷体" panose="02010600040101010101" pitchFamily="2" charset="-122"/>
              </a:rPr>
              <a:t>arXiv</a:t>
            </a:r>
            <a:r>
              <a:rPr lang="en-US" altLang="zh-CN" sz="1600" dirty="0">
                <a:ln w="0"/>
                <a:ea typeface="华文楷体" panose="02010600040101010101" pitchFamily="2" charset="-122"/>
              </a:rPr>
              <a:t>: </a:t>
            </a:r>
            <a:r>
              <a:rPr lang="en-US" altLang="zh-CN" sz="1600" dirty="0">
                <a:ln w="0"/>
                <a:ea typeface="华文楷体" panose="02010600040101010101" pitchFamily="2" charset="-122"/>
                <a:hlinkClick r:id="rId4"/>
              </a:rPr>
              <a:t>https://arxiv.org/abs/2507.09556</a:t>
            </a:r>
            <a:endParaRPr lang="en-US" altLang="zh-CN" sz="1600" dirty="0">
              <a:ln w="0"/>
              <a:ea typeface="华文楷体" panose="02010600040101010101" pitchFamily="2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ln w="0"/>
                <a:ea typeface="华文楷体" panose="02010600040101010101" pitchFamily="2" charset="-122"/>
              </a:rPr>
              <a:t>code: </a:t>
            </a:r>
            <a:r>
              <a:rPr lang="en-US" altLang="zh-CN" sz="1600" dirty="0">
                <a:ln w="0"/>
                <a:ea typeface="华文楷体" panose="02010600040101010101" pitchFamily="2" charset="-122"/>
                <a:hlinkClick r:id="rId5"/>
              </a:rPr>
              <a:t>https://github.com/GrokCV/SeqCSIST</a:t>
            </a:r>
            <a:endParaRPr lang="en-US" altLang="zh-CN" sz="1600" dirty="0">
              <a:ln w="0"/>
              <a:ea typeface="华文楷体" panose="0201060004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CN" sz="1600" dirty="0">
              <a:ln w="0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DD2B82-2782-494C-95D5-62BBEAE5D6E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428" y="4813576"/>
            <a:ext cx="1463677" cy="146367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93CEC07-B3AF-4A96-B79F-67618E8E967F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23F50E-0491-432E-A786-DD77424FB709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8" y="1"/>
            <a:ext cx="11797552" cy="669129"/>
          </a:xfrm>
        </p:spPr>
        <p:txBody>
          <a:bodyPr/>
          <a:lstStyle/>
          <a:p>
            <a:r>
              <a:rPr lang="en-US" altLang="zh-CN" sz="3200" i="1" dirty="0" err="1">
                <a:ea typeface="黑体" panose="02010609060101010101" pitchFamily="49" charset="-122"/>
                <a:cs typeface="Times New Roman" panose="02020603050405020304" pitchFamily="18" charset="0"/>
              </a:rPr>
              <a:t>SeqCSIST</a:t>
            </a:r>
            <a:r>
              <a:rPr lang="en-US" altLang="zh-CN" sz="3200" i="1" dirty="0">
                <a:ea typeface="黑体" panose="02010609060101010101" pitchFamily="49" charset="-122"/>
                <a:cs typeface="Times New Roman" panose="02020603050405020304" pitchFamily="18" charset="0"/>
              </a:rPr>
              <a:t>: Sequential Closely-Spaced Infrared Small Target Unmixing</a:t>
            </a:r>
            <a:endParaRPr lang="zh-CN" altLang="en-US" sz="3200" i="1" dirty="0"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89FCD0-2C34-4663-8B7D-41F8777C8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07" y="1482764"/>
            <a:ext cx="869332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E49926-3103-4DC6-99C7-9BC04D36AF4D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79E174-576A-412F-83E5-C69AC0AD1275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C780465-1C0D-4B29-B6D8-DD3817F02103}"/>
              </a:ext>
            </a:extLst>
          </p:cNvPr>
          <p:cNvSpPr txBox="1"/>
          <p:nvPr/>
        </p:nvSpPr>
        <p:spPr>
          <a:xfrm>
            <a:off x="1737847" y="2306449"/>
            <a:ext cx="8481134" cy="2245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ea typeface="黑体" panose="02010609060101010101" pitchFamily="49" charset="-122"/>
                <a:cs typeface="Times New Roman" panose="02020603050405020304" pitchFamily="18" charset="0"/>
              </a:rPr>
              <a:t>Why</a:t>
            </a: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 Closely-Spaced Infrared Small Target Unmixing? 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ea typeface="黑体" panose="02010609060101010101" pitchFamily="49" charset="-122"/>
                <a:cs typeface="Times New Roman" panose="02020603050405020304" pitchFamily="18" charset="0"/>
              </a:rPr>
              <a:t>How</a:t>
            </a: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 to achieve Closely-Spaced Infrared Small Target Unmixing?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ea typeface="黑体" panose="02010609060101010101" pitchFamily="49" charset="-122"/>
                <a:cs typeface="Times New Roman" panose="02020603050405020304" pitchFamily="18" charset="0"/>
              </a:rPr>
              <a:t>Specific</a:t>
            </a: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 implementation</a:t>
            </a:r>
          </a:p>
          <a:p>
            <a:pPr>
              <a:lnSpc>
                <a:spcPct val="150000"/>
              </a:lnSpc>
            </a:pPr>
            <a:r>
              <a:rPr lang="en-US" altLang="zh-CN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i="1" dirty="0"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ea typeface="黑体" panose="02010609060101010101" pitchFamily="49" charset="-122"/>
                <a:cs typeface="Times New Roman" panose="02020603050405020304" pitchFamily="18" charset="0"/>
              </a:rPr>
              <a:t>Summary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1150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8" y="1"/>
            <a:ext cx="11797552" cy="669129"/>
          </a:xfrm>
        </p:spPr>
        <p:txBody>
          <a:bodyPr/>
          <a:lstStyle/>
          <a:p>
            <a:r>
              <a:rPr lang="en-US" altLang="zh-CN" sz="4000" i="1" dirty="0">
                <a:ea typeface="黑体" panose="02010609060101010101" pitchFamily="49" charset="-122"/>
                <a:cs typeface="Times New Roman" panose="02020603050405020304" pitchFamily="18" charset="0"/>
              </a:rPr>
              <a:t>Why Closely-Spaced Infrared Small Target Unmixing? </a:t>
            </a:r>
            <a:endParaRPr lang="zh-CN" altLang="en-US" sz="4000" i="1" dirty="0"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89FCD0-2C34-4663-8B7D-41F8777C8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07" y="1482764"/>
            <a:ext cx="869332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57A326-9989-494E-ACD7-5D0816DDA8EC}"/>
              </a:ext>
            </a:extLst>
          </p:cNvPr>
          <p:cNvGrpSpPr/>
          <p:nvPr/>
        </p:nvGrpSpPr>
        <p:grpSpPr>
          <a:xfrm>
            <a:off x="5850831" y="1882750"/>
            <a:ext cx="2303325" cy="2846688"/>
            <a:chOff x="6792789" y="2528548"/>
            <a:chExt cx="2303325" cy="284668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92794FF-BE4B-416A-9F59-EB40C4744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0372" y="2528548"/>
              <a:ext cx="2048161" cy="2048161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B3451F-53FA-4319-B7A8-0C1AE6BFE6AB}"/>
                </a:ext>
              </a:extLst>
            </p:cNvPr>
            <p:cNvSpPr txBox="1"/>
            <p:nvPr/>
          </p:nvSpPr>
          <p:spPr>
            <a:xfrm>
              <a:off x="6792789" y="4786164"/>
              <a:ext cx="2303325" cy="589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i="1" dirty="0"/>
                <a:t>Two Targets</a:t>
              </a:r>
              <a:endParaRPr lang="zh-CN" altLang="en-US" sz="2400" i="1" dirty="0"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FF48DB5-2A7A-4C17-917B-D23578159F76}"/>
              </a:ext>
            </a:extLst>
          </p:cNvPr>
          <p:cNvGrpSpPr/>
          <p:nvPr/>
        </p:nvGrpSpPr>
        <p:grpSpPr>
          <a:xfrm>
            <a:off x="2169313" y="1882750"/>
            <a:ext cx="2303325" cy="2846688"/>
            <a:chOff x="2859981" y="2528548"/>
            <a:chExt cx="2303325" cy="2846688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3DCCF55-8573-482A-802B-8750F6898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564" y="2528548"/>
              <a:ext cx="2048161" cy="2048161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29095FA-784C-4318-A768-656A65E56E1B}"/>
                </a:ext>
              </a:extLst>
            </p:cNvPr>
            <p:cNvSpPr txBox="1"/>
            <p:nvPr/>
          </p:nvSpPr>
          <p:spPr>
            <a:xfrm>
              <a:off x="2859981" y="4786164"/>
              <a:ext cx="2303325" cy="5890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i="1" dirty="0"/>
                <a:t>One Target</a:t>
              </a:r>
              <a:endParaRPr lang="zh-CN" altLang="en-US" sz="2400" i="1" dirty="0"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3FD8329-D030-4A75-897B-91840B85D141}"/>
                </a:ext>
              </a:extLst>
            </p:cNvPr>
            <p:cNvSpPr/>
            <p:nvPr/>
          </p:nvSpPr>
          <p:spPr>
            <a:xfrm>
              <a:off x="4117182" y="3209925"/>
              <a:ext cx="566738" cy="6357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30F08D6A-6DC4-499B-B759-220C393AB925}"/>
              </a:ext>
            </a:extLst>
          </p:cNvPr>
          <p:cNvSpPr txBox="1"/>
          <p:nvPr/>
        </p:nvSpPr>
        <p:spPr>
          <a:xfrm>
            <a:off x="8904303" y="2224511"/>
            <a:ext cx="2787588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i="1" dirty="0"/>
              <a:t>Energy Diffusion</a:t>
            </a:r>
            <a:endParaRPr lang="zh-CN" altLang="en-US" sz="2400" i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04E638-C3EE-4898-B369-10350A36AAA1}"/>
              </a:ext>
            </a:extLst>
          </p:cNvPr>
          <p:cNvSpPr txBox="1"/>
          <p:nvPr/>
        </p:nvSpPr>
        <p:spPr>
          <a:xfrm>
            <a:off x="2050758" y="5222732"/>
            <a:ext cx="6103398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What if the target distance is </a:t>
            </a:r>
            <a:r>
              <a:rPr lang="en-US" altLang="zh-CN" sz="2800" i="1" dirty="0">
                <a:solidFill>
                  <a:srgbClr val="FF0000"/>
                </a:solidFill>
              </a:rPr>
              <a:t>smaller</a:t>
            </a:r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?</a:t>
            </a:r>
            <a:endParaRPr lang="zh-CN" altLang="en-US" sz="28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E49926-3103-4DC6-99C7-9BC04D36AF4D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79E174-576A-412F-83E5-C69AC0AD1275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CEF1E70-961E-495B-A0B0-734CF16DFD81}"/>
              </a:ext>
            </a:extLst>
          </p:cNvPr>
          <p:cNvSpPr txBox="1"/>
          <p:nvPr/>
        </p:nvSpPr>
        <p:spPr>
          <a:xfrm>
            <a:off x="8904303" y="2906830"/>
            <a:ext cx="264554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i="1" dirty="0"/>
              <a:t>Energy Overlap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3120E8F-13BB-4B91-A8DE-16F9C5A4E5DE}"/>
              </a:ext>
            </a:extLst>
          </p:cNvPr>
          <p:cNvCxnSpPr>
            <a:cxnSpLocks/>
          </p:cNvCxnSpPr>
          <p:nvPr/>
        </p:nvCxnSpPr>
        <p:spPr>
          <a:xfrm>
            <a:off x="6610905" y="2379216"/>
            <a:ext cx="40245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2B148D5-8718-4CED-B607-88BD9196C6B7}"/>
              </a:ext>
            </a:extLst>
          </p:cNvPr>
          <p:cNvCxnSpPr>
            <a:cxnSpLocks/>
          </p:cNvCxnSpPr>
          <p:nvPr/>
        </p:nvCxnSpPr>
        <p:spPr>
          <a:xfrm flipH="1">
            <a:off x="7165760" y="2379216"/>
            <a:ext cx="4157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71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72B3DB80-2933-4E92-9B93-C2A9E53F6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12" y="886687"/>
            <a:ext cx="6495832" cy="365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B89FCD0-2C34-4663-8B7D-41F8777C8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07" y="1482764"/>
            <a:ext cx="869332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6D4B2-F334-49CD-B5CB-AFA860E6B31A}"/>
              </a:ext>
            </a:extLst>
          </p:cNvPr>
          <p:cNvSpPr txBox="1"/>
          <p:nvPr/>
        </p:nvSpPr>
        <p:spPr>
          <a:xfrm>
            <a:off x="1003174" y="4643392"/>
            <a:ext cx="610105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dirty="0"/>
              <a:t>The limitation of infrared detector’s resolution</a:t>
            </a:r>
            <a:endParaRPr lang="zh-CN" altLang="en-US" sz="2400" dirty="0"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7256238-4C90-4311-B3B7-50A09D6C6160}"/>
              </a:ext>
            </a:extLst>
          </p:cNvPr>
          <p:cNvSpPr txBox="1"/>
          <p:nvPr/>
        </p:nvSpPr>
        <p:spPr>
          <a:xfrm>
            <a:off x="2191998" y="5453296"/>
            <a:ext cx="7808003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i="1" dirty="0">
                <a:solidFill>
                  <a:srgbClr val="FF0000"/>
                </a:solidFill>
              </a:rPr>
              <a:t>Difficult</a:t>
            </a:r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 to distinguish and identify individual targets !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55D10BD4-1D5A-4A5D-A571-6C13E015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8" y="1"/>
            <a:ext cx="11797552" cy="669129"/>
          </a:xfrm>
        </p:spPr>
        <p:txBody>
          <a:bodyPr/>
          <a:lstStyle/>
          <a:p>
            <a:r>
              <a:rPr lang="en-US" altLang="zh-CN" sz="4000" i="1" dirty="0">
                <a:ea typeface="黑体" panose="02010609060101010101" pitchFamily="49" charset="-122"/>
                <a:cs typeface="Times New Roman" panose="02020603050405020304" pitchFamily="18" charset="0"/>
              </a:rPr>
              <a:t>Why Closely-Spaced Infrared Small Target Unmixing? </a:t>
            </a:r>
            <a:endParaRPr lang="zh-CN" altLang="en-US" sz="4000" i="1" dirty="0"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8CA60C-4C11-4A25-8FE9-838498D78065}"/>
              </a:ext>
            </a:extLst>
          </p:cNvPr>
          <p:cNvSpPr txBox="1"/>
          <p:nvPr/>
        </p:nvSpPr>
        <p:spPr>
          <a:xfrm>
            <a:off x="3879541" y="2172840"/>
            <a:ext cx="12961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1" dirty="0">
                <a:latin typeface="Comic Sans MS" panose="030F0702030302020204" pitchFamily="66" charset="0"/>
              </a:rPr>
              <a:t>PSF</a:t>
            </a:r>
            <a:endParaRPr lang="zh-CN" altLang="en-US" sz="1600" i="1" dirty="0">
              <a:latin typeface="Comic Sans MS" panose="030F0702030302020204" pitchFamily="66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4C3F14-392E-4E5F-91C7-B8C75073198D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164E2E0-E1B0-4159-8E66-882A7C39CF5F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DDC91D-C2DB-4550-9039-CC18D4726E48}"/>
              </a:ext>
            </a:extLst>
          </p:cNvPr>
          <p:cNvSpPr txBox="1"/>
          <p:nvPr/>
        </p:nvSpPr>
        <p:spPr>
          <a:xfrm>
            <a:off x="8904303" y="2224511"/>
            <a:ext cx="2787588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i="1" dirty="0"/>
              <a:t>Energy Diffusion</a:t>
            </a:r>
            <a:endParaRPr lang="zh-CN" altLang="en-US" sz="2400" i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41110E-97E2-4943-A0FC-3D75796A8464}"/>
              </a:ext>
            </a:extLst>
          </p:cNvPr>
          <p:cNvSpPr txBox="1"/>
          <p:nvPr/>
        </p:nvSpPr>
        <p:spPr>
          <a:xfrm>
            <a:off x="8904303" y="2906830"/>
            <a:ext cx="264554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i="1" dirty="0"/>
              <a:t>Energy Overlap</a:t>
            </a:r>
          </a:p>
        </p:txBody>
      </p:sp>
    </p:spTree>
    <p:extLst>
      <p:ext uri="{BB962C8B-B14F-4D97-AF65-F5344CB8AC3E}">
        <p14:creationId xmlns:p14="http://schemas.microsoft.com/office/powerpoint/2010/main" val="57219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DECB0F-9D12-4B12-AFC8-CFE59F738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88" y="917735"/>
            <a:ext cx="5408556" cy="4652521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C88BF4D-718C-41E7-84EC-39D81D118523}"/>
              </a:ext>
            </a:extLst>
          </p:cNvPr>
          <p:cNvGrpSpPr/>
          <p:nvPr/>
        </p:nvGrpSpPr>
        <p:grpSpPr>
          <a:xfrm>
            <a:off x="6096000" y="2085918"/>
            <a:ext cx="5853344" cy="2316153"/>
            <a:chOff x="6356412" y="1121736"/>
            <a:chExt cx="5655075" cy="2316153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2FC3CFA-7F44-492B-B3ED-C96E279B9F9C}"/>
                </a:ext>
              </a:extLst>
            </p:cNvPr>
            <p:cNvSpPr txBox="1"/>
            <p:nvPr/>
          </p:nvSpPr>
          <p:spPr>
            <a:xfrm>
              <a:off x="6356412" y="1121736"/>
              <a:ext cx="47664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/>
                <a:t>Infrared Small Target Detection</a:t>
              </a:r>
              <a:endParaRPr lang="zh-CN" altLang="en-US" sz="2400" b="1" i="1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60410BF-6BF5-46B3-AD8E-224A2D0CF4DC}"/>
                </a:ext>
              </a:extLst>
            </p:cNvPr>
            <p:cNvSpPr txBox="1"/>
            <p:nvPr/>
          </p:nvSpPr>
          <p:spPr>
            <a:xfrm>
              <a:off x="6356412" y="1725433"/>
              <a:ext cx="5655075" cy="1712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ts val="3200"/>
                </a:lnSpc>
                <a:buFont typeface="Wingdings" panose="05000000000000000000" pitchFamily="2" charset="2"/>
                <a:buChar char="ü"/>
              </a:pPr>
              <a:r>
                <a:rPr lang="en-US" altLang="zh-CN" sz="2400" i="1" dirty="0"/>
                <a:t>Limited to scenes of large field-of-view but sparse targets</a:t>
              </a:r>
            </a:p>
            <a:p>
              <a:pPr marL="342900" indent="-342900">
                <a:lnSpc>
                  <a:spcPts val="3200"/>
                </a:lnSpc>
                <a:buFont typeface="Wingdings" panose="05000000000000000000" pitchFamily="2" charset="2"/>
                <a:buChar char="ü"/>
              </a:pPr>
              <a:r>
                <a:rPr lang="en-US" altLang="zh-CN" sz="2400" i="1" dirty="0"/>
                <a:t>Assumes a one-to-one mapping between image objects and real targets</a:t>
              </a:r>
              <a:endParaRPr lang="zh-CN" altLang="en-US" sz="2400" i="1" dirty="0"/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546EBFE1-3269-4888-B0EC-F2F168AC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8" y="1"/>
            <a:ext cx="11797552" cy="669129"/>
          </a:xfrm>
        </p:spPr>
        <p:txBody>
          <a:bodyPr/>
          <a:lstStyle/>
          <a:p>
            <a:r>
              <a:rPr lang="en-US" altLang="zh-CN" sz="4000" i="1" dirty="0">
                <a:ea typeface="黑体" panose="02010609060101010101" pitchFamily="49" charset="-122"/>
                <a:cs typeface="Times New Roman" panose="02020603050405020304" pitchFamily="18" charset="0"/>
              </a:rPr>
              <a:t>Why Closely-Spaced Infrared Small Target Unmixing? </a:t>
            </a:r>
            <a:endParaRPr lang="zh-CN" altLang="en-US" sz="4000" i="1" dirty="0"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B793EC-1DE0-4919-AA53-310CA02C706E}"/>
              </a:ext>
            </a:extLst>
          </p:cNvPr>
          <p:cNvSpPr txBox="1"/>
          <p:nvPr/>
        </p:nvSpPr>
        <p:spPr>
          <a:xfrm>
            <a:off x="2452410" y="5680765"/>
            <a:ext cx="7808003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i="1" dirty="0">
                <a:solidFill>
                  <a:srgbClr val="FF0000"/>
                </a:solidFill>
              </a:rPr>
              <a:t>Unable</a:t>
            </a:r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 to distinguish and identify individual targets !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62CA43-ADFB-4B9E-B660-192AFC420058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5861D-5A7F-4788-8CF1-4E10928B4814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803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DECB0F-9D12-4B12-AFC8-CFE59F738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25" y="917735"/>
            <a:ext cx="5408556" cy="4652521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9C88BF4D-718C-41E7-84EC-39D81D118523}"/>
              </a:ext>
            </a:extLst>
          </p:cNvPr>
          <p:cNvGrpSpPr/>
          <p:nvPr/>
        </p:nvGrpSpPr>
        <p:grpSpPr>
          <a:xfrm>
            <a:off x="5978414" y="1588753"/>
            <a:ext cx="6365289" cy="2919850"/>
            <a:chOff x="6356412" y="518039"/>
            <a:chExt cx="6365289" cy="291985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2FC3CFA-7F44-492B-B3ED-C96E279B9F9C}"/>
                </a:ext>
              </a:extLst>
            </p:cNvPr>
            <p:cNvSpPr txBox="1"/>
            <p:nvPr/>
          </p:nvSpPr>
          <p:spPr>
            <a:xfrm>
              <a:off x="6356412" y="1121736"/>
              <a:ext cx="6365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/>
                <a:t>Closely-Spaced Infrared Small Target Unmixing</a:t>
              </a:r>
              <a:endParaRPr lang="zh-CN" altLang="en-US" sz="2400" b="1" i="1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60410BF-6BF5-46B3-AD8E-224A2D0CF4DC}"/>
                </a:ext>
              </a:extLst>
            </p:cNvPr>
            <p:cNvSpPr txBox="1"/>
            <p:nvPr/>
          </p:nvSpPr>
          <p:spPr>
            <a:xfrm>
              <a:off x="6356412" y="1725433"/>
              <a:ext cx="6112972" cy="1712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ts val="3200"/>
                </a:lnSpc>
                <a:buFont typeface="Wingdings" panose="05000000000000000000" pitchFamily="2" charset="2"/>
                <a:buChar char="ü"/>
              </a:pPr>
              <a:r>
                <a:rPr lang="en-US" altLang="zh-CN" sz="2400" i="1" dirty="0"/>
                <a:t>Distinguishing closely packed, overlapped targets</a:t>
              </a:r>
            </a:p>
            <a:p>
              <a:pPr marL="342900" indent="-342900">
                <a:lnSpc>
                  <a:spcPts val="3200"/>
                </a:lnSpc>
                <a:buFont typeface="Wingdings" panose="05000000000000000000" pitchFamily="2" charset="2"/>
                <a:buChar char="ü"/>
              </a:pPr>
              <a:r>
                <a:rPr lang="en-US" altLang="zh-CN" sz="2400" i="1" dirty="0"/>
                <a:t>Transforming the task from simple detection to precise sub-pixel localization</a:t>
              </a:r>
              <a:endParaRPr lang="zh-CN" altLang="en-US" sz="2400" i="1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45A3D18-96C6-42B1-8928-50F3DBE99948}"/>
                </a:ext>
              </a:extLst>
            </p:cNvPr>
            <p:cNvSpPr txBox="1"/>
            <p:nvPr/>
          </p:nvSpPr>
          <p:spPr>
            <a:xfrm>
              <a:off x="6356412" y="518039"/>
              <a:ext cx="63652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i="1" dirty="0">
                  <a:solidFill>
                    <a:srgbClr val="FF0000"/>
                  </a:solidFill>
                </a:rPr>
                <a:t>Novel Task</a:t>
              </a:r>
              <a:endParaRPr lang="zh-CN" altLang="en-US" sz="3200" b="1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标题 1">
            <a:extLst>
              <a:ext uri="{FF2B5EF4-FFF2-40B4-BE49-F238E27FC236}">
                <a16:creationId xmlns:a16="http://schemas.microsoft.com/office/drawing/2014/main" id="{546EBFE1-3269-4888-B0EC-F2F168AC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38" y="1"/>
            <a:ext cx="11797552" cy="669129"/>
          </a:xfrm>
        </p:spPr>
        <p:txBody>
          <a:bodyPr/>
          <a:lstStyle/>
          <a:p>
            <a:r>
              <a:rPr lang="en-US" altLang="zh-CN" sz="4000" i="1" dirty="0">
                <a:ea typeface="黑体" panose="02010609060101010101" pitchFamily="49" charset="-122"/>
                <a:cs typeface="Times New Roman" panose="02020603050405020304" pitchFamily="18" charset="0"/>
              </a:rPr>
              <a:t>Why Closely-Spaced Infrared Small Target Unmixing? </a:t>
            </a:r>
            <a:endParaRPr lang="zh-CN" altLang="en-US" sz="4000" i="1" dirty="0"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B793EC-1DE0-4919-AA53-310CA02C706E}"/>
              </a:ext>
            </a:extLst>
          </p:cNvPr>
          <p:cNvSpPr txBox="1"/>
          <p:nvPr/>
        </p:nvSpPr>
        <p:spPr>
          <a:xfrm>
            <a:off x="656948" y="5712288"/>
            <a:ext cx="11535052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i="1" dirty="0">
                <a:solidFill>
                  <a:srgbClr val="FF0000"/>
                </a:solidFill>
              </a:rPr>
              <a:t>Focusing</a:t>
            </a:r>
            <a:r>
              <a:rPr lang="en-US" altLang="zh-CN" sz="2800" i="1" dirty="0">
                <a:solidFill>
                  <a:srgbClr val="0070C0"/>
                </a:solidFill>
              </a:rPr>
              <a:t> on resolving target groups that are visually indistinguishable</a:t>
            </a:r>
            <a:r>
              <a:rPr lang="en-US" altLang="zh-CN" sz="2800" i="1" dirty="0">
                <a:solidFill>
                  <a:schemeClr val="accent1">
                    <a:lumMod val="75000"/>
                  </a:schemeClr>
                </a:solidFill>
              </a:rPr>
              <a:t>!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0FACE9-2C51-4E5D-8820-ED3B342DDF7B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64776B-A09F-4901-B107-29D688AD5793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3AF0DB1A-7F15-478C-B5D2-D0F39F1B3816}"/>
              </a:ext>
            </a:extLst>
          </p:cNvPr>
          <p:cNvSpPr/>
          <p:nvPr/>
        </p:nvSpPr>
        <p:spPr>
          <a:xfrm>
            <a:off x="7732451" y="1742611"/>
            <a:ext cx="301841" cy="27705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96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2" y="1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How to achieve?</a:t>
            </a:r>
            <a:endParaRPr lang="zh-CN" altLang="en-US" i="1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F1621CB-8CB2-46F1-835C-9AD6F2098801}"/>
              </a:ext>
            </a:extLst>
          </p:cNvPr>
          <p:cNvSpPr/>
          <p:nvPr/>
        </p:nvSpPr>
        <p:spPr>
          <a:xfrm>
            <a:off x="110363" y="1210814"/>
            <a:ext cx="3728623" cy="6691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solidFill>
                  <a:schemeClr val="bg1">
                    <a:lumMod val="50000"/>
                  </a:schemeClr>
                </a:solidFill>
              </a:rPr>
              <a:t>IRSTD</a:t>
            </a:r>
            <a:endParaRPr lang="zh-CN" altLang="en-US" sz="2800" b="1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6B9EA6-3E8E-4B4B-9F93-6C22EEF033B9}"/>
              </a:ext>
            </a:extLst>
          </p:cNvPr>
          <p:cNvSpPr txBox="1"/>
          <p:nvPr/>
        </p:nvSpPr>
        <p:spPr>
          <a:xfrm>
            <a:off x="110362" y="2283537"/>
            <a:ext cx="4003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/>
              <a:t> </a:t>
            </a:r>
            <a:r>
              <a:rPr lang="en-US" altLang="zh-CN" sz="2400" i="1" dirty="0">
                <a:solidFill>
                  <a:schemeClr val="bg1">
                    <a:lumMod val="50000"/>
                  </a:schemeClr>
                </a:solidFill>
              </a:rPr>
              <a:t>Generic ResNet backbones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5181203-B335-4A1E-B7A1-CD5B0E7D9D51}"/>
              </a:ext>
            </a:extLst>
          </p:cNvPr>
          <p:cNvSpPr txBox="1"/>
          <p:nvPr/>
        </p:nvSpPr>
        <p:spPr>
          <a:xfrm>
            <a:off x="110363" y="3204358"/>
            <a:ext cx="3870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/>
              <a:t> </a:t>
            </a:r>
            <a:r>
              <a:rPr lang="en-US" altLang="zh-CN" sz="2400" i="1" dirty="0">
                <a:solidFill>
                  <a:schemeClr val="bg1">
                    <a:lumMod val="50000"/>
                  </a:schemeClr>
                </a:solidFill>
              </a:rPr>
              <a:t>Complex spatial-temporal fusion module</a:t>
            </a:r>
            <a:endParaRPr lang="zh-CN" altLang="en-US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6E061C-7123-474E-A115-16FAA89165A7}"/>
              </a:ext>
            </a:extLst>
          </p:cNvPr>
          <p:cNvSpPr txBox="1"/>
          <p:nvPr/>
        </p:nvSpPr>
        <p:spPr>
          <a:xfrm>
            <a:off x="110362" y="4494511"/>
            <a:ext cx="40038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/>
              <a:t> </a:t>
            </a:r>
            <a:r>
              <a:rPr lang="en-US" altLang="zh-CN" sz="2400" i="1" dirty="0">
                <a:solidFill>
                  <a:schemeClr val="bg1">
                    <a:lumMod val="50000"/>
                  </a:schemeClr>
                </a:solidFill>
              </a:rPr>
              <a:t>Rely on optical flow method for inter-frame alignment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11F2B88-4E60-4106-B6A0-DD945F44A510}"/>
              </a:ext>
            </a:extLst>
          </p:cNvPr>
          <p:cNvSpPr/>
          <p:nvPr/>
        </p:nvSpPr>
        <p:spPr>
          <a:xfrm>
            <a:off x="7759082" y="1210814"/>
            <a:ext cx="3728623" cy="6691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i="1" dirty="0">
                <a:solidFill>
                  <a:srgbClr val="FF0000"/>
                </a:solidFill>
              </a:rPr>
              <a:t>CSIST Unmixing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8E7CC79-CCC1-4D4E-AACD-FB69467628DA}"/>
              </a:ext>
            </a:extLst>
          </p:cNvPr>
          <p:cNvSpPr txBox="1"/>
          <p:nvPr/>
        </p:nvSpPr>
        <p:spPr>
          <a:xfrm>
            <a:off x="7483876" y="2283537"/>
            <a:ext cx="4722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i="1" dirty="0"/>
              <a:t> sparsity-driven feature extraction</a:t>
            </a:r>
            <a:endParaRPr lang="zh-CN" altLang="en-US" sz="2400" i="1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C76D6C9-FD77-4482-BED1-A0209A3296BC}"/>
              </a:ext>
            </a:extLst>
          </p:cNvPr>
          <p:cNvSpPr txBox="1"/>
          <p:nvPr/>
        </p:nvSpPr>
        <p:spPr>
          <a:xfrm>
            <a:off x="7483875" y="3204358"/>
            <a:ext cx="4464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i="1" dirty="0"/>
              <a:t> Lightweight absolute position encoding</a:t>
            </a:r>
            <a:endParaRPr lang="zh-CN" altLang="en-US" sz="2400" i="1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BDC41C4-3B31-4A99-9B17-F695547641DB}"/>
              </a:ext>
            </a:extLst>
          </p:cNvPr>
          <p:cNvSpPr txBox="1"/>
          <p:nvPr/>
        </p:nvSpPr>
        <p:spPr>
          <a:xfrm>
            <a:off x="7483873" y="4494511"/>
            <a:ext cx="4597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400" i="1" dirty="0"/>
              <a:t> Multi-frame deformable alignment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EEE9D8C-9AA5-43B4-B788-632FCCD35268}"/>
              </a:ext>
            </a:extLst>
          </p:cNvPr>
          <p:cNvGrpSpPr/>
          <p:nvPr/>
        </p:nvGrpSpPr>
        <p:grpSpPr>
          <a:xfrm>
            <a:off x="3838986" y="1983827"/>
            <a:ext cx="3644890" cy="539939"/>
            <a:chOff x="3838986" y="1983827"/>
            <a:chExt cx="3644890" cy="539939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4AB7AE2-6BC6-44CC-B246-CC228D07A3FF}"/>
                </a:ext>
              </a:extLst>
            </p:cNvPr>
            <p:cNvSpPr txBox="1"/>
            <p:nvPr/>
          </p:nvSpPr>
          <p:spPr>
            <a:xfrm>
              <a:off x="4207409" y="1983827"/>
              <a:ext cx="29080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i="1" dirty="0"/>
                <a:t> </a:t>
              </a:r>
              <a:r>
                <a:rPr lang="en-US" altLang="zh-CN" sz="2000" i="1" dirty="0">
                  <a:solidFill>
                    <a:schemeClr val="accent1">
                      <a:lumMod val="75000"/>
                    </a:schemeClr>
                  </a:solidFill>
                </a:rPr>
                <a:t>Lacks task-specific priors</a:t>
              </a:r>
              <a:endParaRPr lang="zh-CN" altLang="en-US" sz="20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52895A0-A55F-42D1-86C7-8977D1B3A0BA}"/>
                </a:ext>
              </a:extLst>
            </p:cNvPr>
            <p:cNvCxnSpPr>
              <a:endCxn id="45" idx="1"/>
            </p:cNvCxnSpPr>
            <p:nvPr/>
          </p:nvCxnSpPr>
          <p:spPr>
            <a:xfrm flipV="1">
              <a:off x="3838986" y="2514370"/>
              <a:ext cx="3644890" cy="939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BBEEA98-411C-45BC-AABB-573A827EF7CB}"/>
              </a:ext>
            </a:extLst>
          </p:cNvPr>
          <p:cNvGrpSpPr/>
          <p:nvPr/>
        </p:nvGrpSpPr>
        <p:grpSpPr>
          <a:xfrm>
            <a:off x="3755254" y="2881739"/>
            <a:ext cx="3870665" cy="547261"/>
            <a:chOff x="3755254" y="1976505"/>
            <a:chExt cx="3870665" cy="547261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64558DD-D257-4696-B4D8-A9B34CEDCDED}"/>
                </a:ext>
              </a:extLst>
            </p:cNvPr>
            <p:cNvSpPr txBox="1"/>
            <p:nvPr/>
          </p:nvSpPr>
          <p:spPr>
            <a:xfrm>
              <a:off x="3755254" y="1976505"/>
              <a:ext cx="3870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 dirty="0">
                  <a:solidFill>
                    <a:schemeClr val="accent1">
                      <a:lumMod val="75000"/>
                    </a:schemeClr>
                  </a:solidFill>
                </a:rPr>
                <a:t>Complex and computation-intensive</a:t>
              </a:r>
              <a:endParaRPr lang="zh-CN" altLang="en-US" sz="20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4EDE772E-F1A8-4639-A05E-DCC18B427EB1}"/>
                </a:ext>
              </a:extLst>
            </p:cNvPr>
            <p:cNvCxnSpPr/>
            <p:nvPr/>
          </p:nvCxnSpPr>
          <p:spPr>
            <a:xfrm flipV="1">
              <a:off x="3838986" y="2514370"/>
              <a:ext cx="3644890" cy="939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01DAA21-2010-4AFF-9D84-EAF63A433F7C}"/>
              </a:ext>
            </a:extLst>
          </p:cNvPr>
          <p:cNvGrpSpPr/>
          <p:nvPr/>
        </p:nvGrpSpPr>
        <p:grpSpPr>
          <a:xfrm>
            <a:off x="3755254" y="4220880"/>
            <a:ext cx="3870665" cy="547261"/>
            <a:chOff x="3755254" y="1976505"/>
            <a:chExt cx="3870665" cy="547261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7D9615F-DF94-4516-A727-0090F20AB82E}"/>
                </a:ext>
              </a:extLst>
            </p:cNvPr>
            <p:cNvSpPr txBox="1"/>
            <p:nvPr/>
          </p:nvSpPr>
          <p:spPr>
            <a:xfrm>
              <a:off x="3755254" y="1976505"/>
              <a:ext cx="38706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i="1" dirty="0">
                  <a:solidFill>
                    <a:schemeClr val="accent1">
                      <a:lumMod val="75000"/>
                    </a:schemeClr>
                  </a:solidFill>
                </a:rPr>
                <a:t>weak spatial target awareness</a:t>
              </a:r>
              <a:endParaRPr lang="zh-CN" altLang="en-US" sz="2000" i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13EB167-832B-4CA7-9540-2B5FB4A21E49}"/>
                </a:ext>
              </a:extLst>
            </p:cNvPr>
            <p:cNvCxnSpPr/>
            <p:nvPr/>
          </p:nvCxnSpPr>
          <p:spPr>
            <a:xfrm flipV="1">
              <a:off x="3838986" y="2514370"/>
              <a:ext cx="3644890" cy="939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2AF7C44-F47F-4182-B3B0-33283F81AA9B}"/>
              </a:ext>
            </a:extLst>
          </p:cNvPr>
          <p:cNvSpPr txBox="1"/>
          <p:nvPr/>
        </p:nvSpPr>
        <p:spPr>
          <a:xfrm>
            <a:off x="2657817" y="5656582"/>
            <a:ext cx="6702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solidFill>
                  <a:schemeClr val="accent1">
                    <a:lumMod val="75000"/>
                  </a:schemeClr>
                </a:solidFill>
              </a:rPr>
              <a:t>Talent is limited </a:t>
            </a:r>
            <a:r>
              <a:rPr lang="en-US" altLang="zh-CN" sz="3200" b="1" i="1" dirty="0">
                <a:solidFill>
                  <a:srgbClr val="FF0000"/>
                </a:solidFill>
              </a:rPr>
              <a:t>without resources </a:t>
            </a:r>
            <a:r>
              <a:rPr lang="en-US" altLang="zh-CN" sz="3200" b="1" i="1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endParaRPr lang="zh-CN" altLang="en-US" sz="32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B6EAADB-69A1-4DB8-9254-F305FD8594AE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6C632A-A278-40B7-9C11-AA2C46DD1358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8163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62" y="1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SeqCSIST Dataset</a:t>
            </a:r>
            <a:endParaRPr lang="zh-CN" altLang="en-US" i="1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98A01CE-BFC4-46C7-8470-1DDCED7B140C}"/>
              </a:ext>
            </a:extLst>
          </p:cNvPr>
          <p:cNvSpPr/>
          <p:nvPr/>
        </p:nvSpPr>
        <p:spPr>
          <a:xfrm>
            <a:off x="110362" y="3952930"/>
            <a:ext cx="6285695" cy="2118692"/>
          </a:xfrm>
          <a:custGeom>
            <a:avLst/>
            <a:gdLst>
              <a:gd name="connsiteX0" fmla="*/ 0 w 6285695"/>
              <a:gd name="connsiteY0" fmla="*/ 0 h 2118692"/>
              <a:gd name="connsiteX1" fmla="*/ 509840 w 6285695"/>
              <a:gd name="connsiteY1" fmla="*/ 0 h 2118692"/>
              <a:gd name="connsiteX2" fmla="*/ 1019679 w 6285695"/>
              <a:gd name="connsiteY2" fmla="*/ 0 h 2118692"/>
              <a:gd name="connsiteX3" fmla="*/ 1843804 w 6285695"/>
              <a:gd name="connsiteY3" fmla="*/ 0 h 2118692"/>
              <a:gd name="connsiteX4" fmla="*/ 2667928 w 6285695"/>
              <a:gd name="connsiteY4" fmla="*/ 0 h 2118692"/>
              <a:gd name="connsiteX5" fmla="*/ 3303482 w 6285695"/>
              <a:gd name="connsiteY5" fmla="*/ 0 h 2118692"/>
              <a:gd name="connsiteX6" fmla="*/ 3876179 w 6285695"/>
              <a:gd name="connsiteY6" fmla="*/ 0 h 2118692"/>
              <a:gd name="connsiteX7" fmla="*/ 4637446 w 6285695"/>
              <a:gd name="connsiteY7" fmla="*/ 0 h 2118692"/>
              <a:gd name="connsiteX8" fmla="*/ 5273000 w 6285695"/>
              <a:gd name="connsiteY8" fmla="*/ 0 h 2118692"/>
              <a:gd name="connsiteX9" fmla="*/ 6285695 w 6285695"/>
              <a:gd name="connsiteY9" fmla="*/ 0 h 2118692"/>
              <a:gd name="connsiteX10" fmla="*/ 6285695 w 6285695"/>
              <a:gd name="connsiteY10" fmla="*/ 529673 h 2118692"/>
              <a:gd name="connsiteX11" fmla="*/ 6285695 w 6285695"/>
              <a:gd name="connsiteY11" fmla="*/ 995785 h 2118692"/>
              <a:gd name="connsiteX12" fmla="*/ 6285695 w 6285695"/>
              <a:gd name="connsiteY12" fmla="*/ 1567832 h 2118692"/>
              <a:gd name="connsiteX13" fmla="*/ 6285695 w 6285695"/>
              <a:gd name="connsiteY13" fmla="*/ 2118692 h 2118692"/>
              <a:gd name="connsiteX14" fmla="*/ 5712998 w 6285695"/>
              <a:gd name="connsiteY14" fmla="*/ 2118692 h 2118692"/>
              <a:gd name="connsiteX15" fmla="*/ 4888874 w 6285695"/>
              <a:gd name="connsiteY15" fmla="*/ 2118692 h 2118692"/>
              <a:gd name="connsiteX16" fmla="*/ 4316177 w 6285695"/>
              <a:gd name="connsiteY16" fmla="*/ 2118692 h 2118692"/>
              <a:gd name="connsiteX17" fmla="*/ 3617767 w 6285695"/>
              <a:gd name="connsiteY17" fmla="*/ 2118692 h 2118692"/>
              <a:gd name="connsiteX18" fmla="*/ 2856499 w 6285695"/>
              <a:gd name="connsiteY18" fmla="*/ 2118692 h 2118692"/>
              <a:gd name="connsiteX19" fmla="*/ 2283803 w 6285695"/>
              <a:gd name="connsiteY19" fmla="*/ 2118692 h 2118692"/>
              <a:gd name="connsiteX20" fmla="*/ 1711106 w 6285695"/>
              <a:gd name="connsiteY20" fmla="*/ 2118692 h 2118692"/>
              <a:gd name="connsiteX21" fmla="*/ 1012695 w 6285695"/>
              <a:gd name="connsiteY21" fmla="*/ 2118692 h 2118692"/>
              <a:gd name="connsiteX22" fmla="*/ 0 w 6285695"/>
              <a:gd name="connsiteY22" fmla="*/ 2118692 h 2118692"/>
              <a:gd name="connsiteX23" fmla="*/ 0 w 6285695"/>
              <a:gd name="connsiteY23" fmla="*/ 1631393 h 2118692"/>
              <a:gd name="connsiteX24" fmla="*/ 0 w 6285695"/>
              <a:gd name="connsiteY24" fmla="*/ 1080533 h 2118692"/>
              <a:gd name="connsiteX25" fmla="*/ 0 w 6285695"/>
              <a:gd name="connsiteY25" fmla="*/ 508486 h 2118692"/>
              <a:gd name="connsiteX26" fmla="*/ 0 w 6285695"/>
              <a:gd name="connsiteY26" fmla="*/ 0 h 2118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285695" h="2118692" fill="none" extrusionOk="0">
                <a:moveTo>
                  <a:pt x="0" y="0"/>
                </a:moveTo>
                <a:cubicBezTo>
                  <a:pt x="188110" y="-2163"/>
                  <a:pt x="260177" y="11704"/>
                  <a:pt x="509840" y="0"/>
                </a:cubicBezTo>
                <a:cubicBezTo>
                  <a:pt x="759503" y="-11704"/>
                  <a:pt x="877536" y="-8567"/>
                  <a:pt x="1019679" y="0"/>
                </a:cubicBezTo>
                <a:cubicBezTo>
                  <a:pt x="1161822" y="8567"/>
                  <a:pt x="1496387" y="-21325"/>
                  <a:pt x="1843804" y="0"/>
                </a:cubicBezTo>
                <a:cubicBezTo>
                  <a:pt x="2191221" y="21325"/>
                  <a:pt x="2374898" y="-3512"/>
                  <a:pt x="2667928" y="0"/>
                </a:cubicBezTo>
                <a:cubicBezTo>
                  <a:pt x="2960958" y="3512"/>
                  <a:pt x="3168570" y="-24412"/>
                  <a:pt x="3303482" y="0"/>
                </a:cubicBezTo>
                <a:cubicBezTo>
                  <a:pt x="3438394" y="24412"/>
                  <a:pt x="3745838" y="-14008"/>
                  <a:pt x="3876179" y="0"/>
                </a:cubicBezTo>
                <a:cubicBezTo>
                  <a:pt x="4006520" y="14008"/>
                  <a:pt x="4445089" y="-26031"/>
                  <a:pt x="4637446" y="0"/>
                </a:cubicBezTo>
                <a:cubicBezTo>
                  <a:pt x="4829803" y="26031"/>
                  <a:pt x="5032511" y="-15450"/>
                  <a:pt x="5273000" y="0"/>
                </a:cubicBezTo>
                <a:cubicBezTo>
                  <a:pt x="5513489" y="15450"/>
                  <a:pt x="6009896" y="7318"/>
                  <a:pt x="6285695" y="0"/>
                </a:cubicBezTo>
                <a:cubicBezTo>
                  <a:pt x="6271880" y="152794"/>
                  <a:pt x="6286488" y="305160"/>
                  <a:pt x="6285695" y="529673"/>
                </a:cubicBezTo>
                <a:cubicBezTo>
                  <a:pt x="6284902" y="754186"/>
                  <a:pt x="6278682" y="875921"/>
                  <a:pt x="6285695" y="995785"/>
                </a:cubicBezTo>
                <a:cubicBezTo>
                  <a:pt x="6292708" y="1115649"/>
                  <a:pt x="6292472" y="1442373"/>
                  <a:pt x="6285695" y="1567832"/>
                </a:cubicBezTo>
                <a:cubicBezTo>
                  <a:pt x="6278918" y="1693291"/>
                  <a:pt x="6295243" y="1885234"/>
                  <a:pt x="6285695" y="2118692"/>
                </a:cubicBezTo>
                <a:cubicBezTo>
                  <a:pt x="6097965" y="2096829"/>
                  <a:pt x="5906647" y="2132395"/>
                  <a:pt x="5712998" y="2118692"/>
                </a:cubicBezTo>
                <a:cubicBezTo>
                  <a:pt x="5519349" y="2104989"/>
                  <a:pt x="5145402" y="2140021"/>
                  <a:pt x="4888874" y="2118692"/>
                </a:cubicBezTo>
                <a:cubicBezTo>
                  <a:pt x="4632346" y="2097363"/>
                  <a:pt x="4545070" y="2144977"/>
                  <a:pt x="4316177" y="2118692"/>
                </a:cubicBezTo>
                <a:cubicBezTo>
                  <a:pt x="4087284" y="2092407"/>
                  <a:pt x="3949303" y="2147082"/>
                  <a:pt x="3617767" y="2118692"/>
                </a:cubicBezTo>
                <a:cubicBezTo>
                  <a:pt x="3286231" y="2090303"/>
                  <a:pt x="3058219" y="2110986"/>
                  <a:pt x="2856499" y="2118692"/>
                </a:cubicBezTo>
                <a:cubicBezTo>
                  <a:pt x="2654779" y="2126398"/>
                  <a:pt x="2459262" y="2131315"/>
                  <a:pt x="2283803" y="2118692"/>
                </a:cubicBezTo>
                <a:cubicBezTo>
                  <a:pt x="2108344" y="2106069"/>
                  <a:pt x="1973418" y="2111181"/>
                  <a:pt x="1711106" y="2118692"/>
                </a:cubicBezTo>
                <a:cubicBezTo>
                  <a:pt x="1448794" y="2126203"/>
                  <a:pt x="1163071" y="2138597"/>
                  <a:pt x="1012695" y="2118692"/>
                </a:cubicBezTo>
                <a:cubicBezTo>
                  <a:pt x="862319" y="2098787"/>
                  <a:pt x="252623" y="2076997"/>
                  <a:pt x="0" y="2118692"/>
                </a:cubicBezTo>
                <a:cubicBezTo>
                  <a:pt x="-7662" y="1914388"/>
                  <a:pt x="-13553" y="1863758"/>
                  <a:pt x="0" y="1631393"/>
                </a:cubicBezTo>
                <a:cubicBezTo>
                  <a:pt x="13553" y="1399028"/>
                  <a:pt x="997" y="1256239"/>
                  <a:pt x="0" y="1080533"/>
                </a:cubicBezTo>
                <a:cubicBezTo>
                  <a:pt x="-997" y="904827"/>
                  <a:pt x="14179" y="647844"/>
                  <a:pt x="0" y="508486"/>
                </a:cubicBezTo>
                <a:cubicBezTo>
                  <a:pt x="-14179" y="369128"/>
                  <a:pt x="-2296" y="129612"/>
                  <a:pt x="0" y="0"/>
                </a:cubicBezTo>
                <a:close/>
              </a:path>
              <a:path w="6285695" h="2118692" stroke="0" extrusionOk="0">
                <a:moveTo>
                  <a:pt x="0" y="0"/>
                </a:moveTo>
                <a:cubicBezTo>
                  <a:pt x="148804" y="-24814"/>
                  <a:pt x="330203" y="-3065"/>
                  <a:pt x="509840" y="0"/>
                </a:cubicBezTo>
                <a:cubicBezTo>
                  <a:pt x="689477" y="3065"/>
                  <a:pt x="856084" y="16262"/>
                  <a:pt x="1019679" y="0"/>
                </a:cubicBezTo>
                <a:cubicBezTo>
                  <a:pt x="1183274" y="-16262"/>
                  <a:pt x="1603666" y="-14645"/>
                  <a:pt x="1843804" y="0"/>
                </a:cubicBezTo>
                <a:cubicBezTo>
                  <a:pt x="2083943" y="14645"/>
                  <a:pt x="2301204" y="-14441"/>
                  <a:pt x="2416501" y="0"/>
                </a:cubicBezTo>
                <a:cubicBezTo>
                  <a:pt x="2531798" y="14441"/>
                  <a:pt x="2844206" y="37548"/>
                  <a:pt x="3240625" y="0"/>
                </a:cubicBezTo>
                <a:cubicBezTo>
                  <a:pt x="3637044" y="-37548"/>
                  <a:pt x="3683475" y="-11117"/>
                  <a:pt x="3876179" y="0"/>
                </a:cubicBezTo>
                <a:cubicBezTo>
                  <a:pt x="4068883" y="11117"/>
                  <a:pt x="4338944" y="16707"/>
                  <a:pt x="4637446" y="0"/>
                </a:cubicBezTo>
                <a:cubicBezTo>
                  <a:pt x="4935948" y="-16707"/>
                  <a:pt x="5026190" y="24965"/>
                  <a:pt x="5335857" y="0"/>
                </a:cubicBezTo>
                <a:cubicBezTo>
                  <a:pt x="5645524" y="-24965"/>
                  <a:pt x="5991814" y="-37444"/>
                  <a:pt x="6285695" y="0"/>
                </a:cubicBezTo>
                <a:cubicBezTo>
                  <a:pt x="6301850" y="226030"/>
                  <a:pt x="6302832" y="393209"/>
                  <a:pt x="6285695" y="572047"/>
                </a:cubicBezTo>
                <a:cubicBezTo>
                  <a:pt x="6268558" y="750885"/>
                  <a:pt x="6302308" y="865003"/>
                  <a:pt x="6285695" y="1038159"/>
                </a:cubicBezTo>
                <a:cubicBezTo>
                  <a:pt x="6269082" y="1211315"/>
                  <a:pt x="6275738" y="1397802"/>
                  <a:pt x="6285695" y="1567832"/>
                </a:cubicBezTo>
                <a:cubicBezTo>
                  <a:pt x="6295652" y="1737862"/>
                  <a:pt x="6267295" y="1916439"/>
                  <a:pt x="6285695" y="2118692"/>
                </a:cubicBezTo>
                <a:cubicBezTo>
                  <a:pt x="6033204" y="2133843"/>
                  <a:pt x="5963664" y="2140387"/>
                  <a:pt x="5775855" y="2118692"/>
                </a:cubicBezTo>
                <a:cubicBezTo>
                  <a:pt x="5588046" y="2096997"/>
                  <a:pt x="5398992" y="2087400"/>
                  <a:pt x="5140302" y="2118692"/>
                </a:cubicBezTo>
                <a:cubicBezTo>
                  <a:pt x="4881612" y="2149984"/>
                  <a:pt x="4639051" y="2139830"/>
                  <a:pt x="4441891" y="2118692"/>
                </a:cubicBezTo>
                <a:cubicBezTo>
                  <a:pt x="4244731" y="2097554"/>
                  <a:pt x="4164467" y="2103221"/>
                  <a:pt x="3932051" y="2118692"/>
                </a:cubicBezTo>
                <a:cubicBezTo>
                  <a:pt x="3699635" y="2134163"/>
                  <a:pt x="3470125" y="2150315"/>
                  <a:pt x="3170784" y="2118692"/>
                </a:cubicBezTo>
                <a:cubicBezTo>
                  <a:pt x="2871443" y="2087069"/>
                  <a:pt x="2757593" y="2089167"/>
                  <a:pt x="2409516" y="2118692"/>
                </a:cubicBezTo>
                <a:cubicBezTo>
                  <a:pt x="2061439" y="2148217"/>
                  <a:pt x="1963460" y="2113364"/>
                  <a:pt x="1773963" y="2118692"/>
                </a:cubicBezTo>
                <a:cubicBezTo>
                  <a:pt x="1584466" y="2124020"/>
                  <a:pt x="1274042" y="2133884"/>
                  <a:pt x="949838" y="2118692"/>
                </a:cubicBezTo>
                <a:cubicBezTo>
                  <a:pt x="625634" y="2103500"/>
                  <a:pt x="222813" y="2094830"/>
                  <a:pt x="0" y="2118692"/>
                </a:cubicBezTo>
                <a:cubicBezTo>
                  <a:pt x="-25475" y="1890837"/>
                  <a:pt x="11717" y="1732025"/>
                  <a:pt x="0" y="1546645"/>
                </a:cubicBezTo>
                <a:cubicBezTo>
                  <a:pt x="-11717" y="1361265"/>
                  <a:pt x="23504" y="1224193"/>
                  <a:pt x="0" y="1038159"/>
                </a:cubicBezTo>
                <a:cubicBezTo>
                  <a:pt x="-23504" y="852125"/>
                  <a:pt x="-7217" y="618629"/>
                  <a:pt x="0" y="487299"/>
                </a:cubicBezTo>
                <a:cubicBezTo>
                  <a:pt x="7217" y="355969"/>
                  <a:pt x="-1350" y="242274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9995810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0FE122-F400-4D07-9687-C1C98D55EB63}"/>
              </a:ext>
            </a:extLst>
          </p:cNvPr>
          <p:cNvSpPr/>
          <p:nvPr/>
        </p:nvSpPr>
        <p:spPr>
          <a:xfrm>
            <a:off x="110362" y="1728560"/>
            <a:ext cx="6285695" cy="2118692"/>
          </a:xfrm>
          <a:custGeom>
            <a:avLst/>
            <a:gdLst>
              <a:gd name="connsiteX0" fmla="*/ 0 w 6285695"/>
              <a:gd name="connsiteY0" fmla="*/ 0 h 2118692"/>
              <a:gd name="connsiteX1" fmla="*/ 509840 w 6285695"/>
              <a:gd name="connsiteY1" fmla="*/ 0 h 2118692"/>
              <a:gd name="connsiteX2" fmla="*/ 1019679 w 6285695"/>
              <a:gd name="connsiteY2" fmla="*/ 0 h 2118692"/>
              <a:gd name="connsiteX3" fmla="*/ 1843804 w 6285695"/>
              <a:gd name="connsiteY3" fmla="*/ 0 h 2118692"/>
              <a:gd name="connsiteX4" fmla="*/ 2667928 w 6285695"/>
              <a:gd name="connsiteY4" fmla="*/ 0 h 2118692"/>
              <a:gd name="connsiteX5" fmla="*/ 3303482 w 6285695"/>
              <a:gd name="connsiteY5" fmla="*/ 0 h 2118692"/>
              <a:gd name="connsiteX6" fmla="*/ 3876179 w 6285695"/>
              <a:gd name="connsiteY6" fmla="*/ 0 h 2118692"/>
              <a:gd name="connsiteX7" fmla="*/ 4637446 w 6285695"/>
              <a:gd name="connsiteY7" fmla="*/ 0 h 2118692"/>
              <a:gd name="connsiteX8" fmla="*/ 5273000 w 6285695"/>
              <a:gd name="connsiteY8" fmla="*/ 0 h 2118692"/>
              <a:gd name="connsiteX9" fmla="*/ 6285695 w 6285695"/>
              <a:gd name="connsiteY9" fmla="*/ 0 h 2118692"/>
              <a:gd name="connsiteX10" fmla="*/ 6285695 w 6285695"/>
              <a:gd name="connsiteY10" fmla="*/ 529673 h 2118692"/>
              <a:gd name="connsiteX11" fmla="*/ 6285695 w 6285695"/>
              <a:gd name="connsiteY11" fmla="*/ 995785 h 2118692"/>
              <a:gd name="connsiteX12" fmla="*/ 6285695 w 6285695"/>
              <a:gd name="connsiteY12" fmla="*/ 1567832 h 2118692"/>
              <a:gd name="connsiteX13" fmla="*/ 6285695 w 6285695"/>
              <a:gd name="connsiteY13" fmla="*/ 2118692 h 2118692"/>
              <a:gd name="connsiteX14" fmla="*/ 5712998 w 6285695"/>
              <a:gd name="connsiteY14" fmla="*/ 2118692 h 2118692"/>
              <a:gd name="connsiteX15" fmla="*/ 4888874 w 6285695"/>
              <a:gd name="connsiteY15" fmla="*/ 2118692 h 2118692"/>
              <a:gd name="connsiteX16" fmla="*/ 4316177 w 6285695"/>
              <a:gd name="connsiteY16" fmla="*/ 2118692 h 2118692"/>
              <a:gd name="connsiteX17" fmla="*/ 3617767 w 6285695"/>
              <a:gd name="connsiteY17" fmla="*/ 2118692 h 2118692"/>
              <a:gd name="connsiteX18" fmla="*/ 2856499 w 6285695"/>
              <a:gd name="connsiteY18" fmla="*/ 2118692 h 2118692"/>
              <a:gd name="connsiteX19" fmla="*/ 2283803 w 6285695"/>
              <a:gd name="connsiteY19" fmla="*/ 2118692 h 2118692"/>
              <a:gd name="connsiteX20" fmla="*/ 1711106 w 6285695"/>
              <a:gd name="connsiteY20" fmla="*/ 2118692 h 2118692"/>
              <a:gd name="connsiteX21" fmla="*/ 1012695 w 6285695"/>
              <a:gd name="connsiteY21" fmla="*/ 2118692 h 2118692"/>
              <a:gd name="connsiteX22" fmla="*/ 0 w 6285695"/>
              <a:gd name="connsiteY22" fmla="*/ 2118692 h 2118692"/>
              <a:gd name="connsiteX23" fmla="*/ 0 w 6285695"/>
              <a:gd name="connsiteY23" fmla="*/ 1631393 h 2118692"/>
              <a:gd name="connsiteX24" fmla="*/ 0 w 6285695"/>
              <a:gd name="connsiteY24" fmla="*/ 1080533 h 2118692"/>
              <a:gd name="connsiteX25" fmla="*/ 0 w 6285695"/>
              <a:gd name="connsiteY25" fmla="*/ 508486 h 2118692"/>
              <a:gd name="connsiteX26" fmla="*/ 0 w 6285695"/>
              <a:gd name="connsiteY26" fmla="*/ 0 h 2118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285695" h="2118692" fill="none" extrusionOk="0">
                <a:moveTo>
                  <a:pt x="0" y="0"/>
                </a:moveTo>
                <a:cubicBezTo>
                  <a:pt x="188110" y="-2163"/>
                  <a:pt x="260177" y="11704"/>
                  <a:pt x="509840" y="0"/>
                </a:cubicBezTo>
                <a:cubicBezTo>
                  <a:pt x="759503" y="-11704"/>
                  <a:pt x="877536" y="-8567"/>
                  <a:pt x="1019679" y="0"/>
                </a:cubicBezTo>
                <a:cubicBezTo>
                  <a:pt x="1161822" y="8567"/>
                  <a:pt x="1496387" y="-21325"/>
                  <a:pt x="1843804" y="0"/>
                </a:cubicBezTo>
                <a:cubicBezTo>
                  <a:pt x="2191221" y="21325"/>
                  <a:pt x="2374898" y="-3512"/>
                  <a:pt x="2667928" y="0"/>
                </a:cubicBezTo>
                <a:cubicBezTo>
                  <a:pt x="2960958" y="3512"/>
                  <a:pt x="3168570" y="-24412"/>
                  <a:pt x="3303482" y="0"/>
                </a:cubicBezTo>
                <a:cubicBezTo>
                  <a:pt x="3438394" y="24412"/>
                  <a:pt x="3745838" y="-14008"/>
                  <a:pt x="3876179" y="0"/>
                </a:cubicBezTo>
                <a:cubicBezTo>
                  <a:pt x="4006520" y="14008"/>
                  <a:pt x="4445089" y="-26031"/>
                  <a:pt x="4637446" y="0"/>
                </a:cubicBezTo>
                <a:cubicBezTo>
                  <a:pt x="4829803" y="26031"/>
                  <a:pt x="5032511" y="-15450"/>
                  <a:pt x="5273000" y="0"/>
                </a:cubicBezTo>
                <a:cubicBezTo>
                  <a:pt x="5513489" y="15450"/>
                  <a:pt x="6009896" y="7318"/>
                  <a:pt x="6285695" y="0"/>
                </a:cubicBezTo>
                <a:cubicBezTo>
                  <a:pt x="6271880" y="152794"/>
                  <a:pt x="6286488" y="305160"/>
                  <a:pt x="6285695" y="529673"/>
                </a:cubicBezTo>
                <a:cubicBezTo>
                  <a:pt x="6284902" y="754186"/>
                  <a:pt x="6278682" y="875921"/>
                  <a:pt x="6285695" y="995785"/>
                </a:cubicBezTo>
                <a:cubicBezTo>
                  <a:pt x="6292708" y="1115649"/>
                  <a:pt x="6292472" y="1442373"/>
                  <a:pt x="6285695" y="1567832"/>
                </a:cubicBezTo>
                <a:cubicBezTo>
                  <a:pt x="6278918" y="1693291"/>
                  <a:pt x="6295243" y="1885234"/>
                  <a:pt x="6285695" y="2118692"/>
                </a:cubicBezTo>
                <a:cubicBezTo>
                  <a:pt x="6097965" y="2096829"/>
                  <a:pt x="5906647" y="2132395"/>
                  <a:pt x="5712998" y="2118692"/>
                </a:cubicBezTo>
                <a:cubicBezTo>
                  <a:pt x="5519349" y="2104989"/>
                  <a:pt x="5145402" y="2140021"/>
                  <a:pt x="4888874" y="2118692"/>
                </a:cubicBezTo>
                <a:cubicBezTo>
                  <a:pt x="4632346" y="2097363"/>
                  <a:pt x="4545070" y="2144977"/>
                  <a:pt x="4316177" y="2118692"/>
                </a:cubicBezTo>
                <a:cubicBezTo>
                  <a:pt x="4087284" y="2092407"/>
                  <a:pt x="3949303" y="2147082"/>
                  <a:pt x="3617767" y="2118692"/>
                </a:cubicBezTo>
                <a:cubicBezTo>
                  <a:pt x="3286231" y="2090303"/>
                  <a:pt x="3058219" y="2110986"/>
                  <a:pt x="2856499" y="2118692"/>
                </a:cubicBezTo>
                <a:cubicBezTo>
                  <a:pt x="2654779" y="2126398"/>
                  <a:pt x="2459262" y="2131315"/>
                  <a:pt x="2283803" y="2118692"/>
                </a:cubicBezTo>
                <a:cubicBezTo>
                  <a:pt x="2108344" y="2106069"/>
                  <a:pt x="1973418" y="2111181"/>
                  <a:pt x="1711106" y="2118692"/>
                </a:cubicBezTo>
                <a:cubicBezTo>
                  <a:pt x="1448794" y="2126203"/>
                  <a:pt x="1163071" y="2138597"/>
                  <a:pt x="1012695" y="2118692"/>
                </a:cubicBezTo>
                <a:cubicBezTo>
                  <a:pt x="862319" y="2098787"/>
                  <a:pt x="252623" y="2076997"/>
                  <a:pt x="0" y="2118692"/>
                </a:cubicBezTo>
                <a:cubicBezTo>
                  <a:pt x="-7662" y="1914388"/>
                  <a:pt x="-13553" y="1863758"/>
                  <a:pt x="0" y="1631393"/>
                </a:cubicBezTo>
                <a:cubicBezTo>
                  <a:pt x="13553" y="1399028"/>
                  <a:pt x="997" y="1256239"/>
                  <a:pt x="0" y="1080533"/>
                </a:cubicBezTo>
                <a:cubicBezTo>
                  <a:pt x="-997" y="904827"/>
                  <a:pt x="14179" y="647844"/>
                  <a:pt x="0" y="508486"/>
                </a:cubicBezTo>
                <a:cubicBezTo>
                  <a:pt x="-14179" y="369128"/>
                  <a:pt x="-2296" y="129612"/>
                  <a:pt x="0" y="0"/>
                </a:cubicBezTo>
                <a:close/>
              </a:path>
              <a:path w="6285695" h="2118692" stroke="0" extrusionOk="0">
                <a:moveTo>
                  <a:pt x="0" y="0"/>
                </a:moveTo>
                <a:cubicBezTo>
                  <a:pt x="148804" y="-24814"/>
                  <a:pt x="330203" y="-3065"/>
                  <a:pt x="509840" y="0"/>
                </a:cubicBezTo>
                <a:cubicBezTo>
                  <a:pt x="689477" y="3065"/>
                  <a:pt x="856084" y="16262"/>
                  <a:pt x="1019679" y="0"/>
                </a:cubicBezTo>
                <a:cubicBezTo>
                  <a:pt x="1183274" y="-16262"/>
                  <a:pt x="1603666" y="-14645"/>
                  <a:pt x="1843804" y="0"/>
                </a:cubicBezTo>
                <a:cubicBezTo>
                  <a:pt x="2083943" y="14645"/>
                  <a:pt x="2301204" y="-14441"/>
                  <a:pt x="2416501" y="0"/>
                </a:cubicBezTo>
                <a:cubicBezTo>
                  <a:pt x="2531798" y="14441"/>
                  <a:pt x="2844206" y="37548"/>
                  <a:pt x="3240625" y="0"/>
                </a:cubicBezTo>
                <a:cubicBezTo>
                  <a:pt x="3637044" y="-37548"/>
                  <a:pt x="3683475" y="-11117"/>
                  <a:pt x="3876179" y="0"/>
                </a:cubicBezTo>
                <a:cubicBezTo>
                  <a:pt x="4068883" y="11117"/>
                  <a:pt x="4338944" y="16707"/>
                  <a:pt x="4637446" y="0"/>
                </a:cubicBezTo>
                <a:cubicBezTo>
                  <a:pt x="4935948" y="-16707"/>
                  <a:pt x="5026190" y="24965"/>
                  <a:pt x="5335857" y="0"/>
                </a:cubicBezTo>
                <a:cubicBezTo>
                  <a:pt x="5645524" y="-24965"/>
                  <a:pt x="5991814" y="-37444"/>
                  <a:pt x="6285695" y="0"/>
                </a:cubicBezTo>
                <a:cubicBezTo>
                  <a:pt x="6301850" y="226030"/>
                  <a:pt x="6302832" y="393209"/>
                  <a:pt x="6285695" y="572047"/>
                </a:cubicBezTo>
                <a:cubicBezTo>
                  <a:pt x="6268558" y="750885"/>
                  <a:pt x="6302308" y="865003"/>
                  <a:pt x="6285695" y="1038159"/>
                </a:cubicBezTo>
                <a:cubicBezTo>
                  <a:pt x="6269082" y="1211315"/>
                  <a:pt x="6275738" y="1397802"/>
                  <a:pt x="6285695" y="1567832"/>
                </a:cubicBezTo>
                <a:cubicBezTo>
                  <a:pt x="6295652" y="1737862"/>
                  <a:pt x="6267295" y="1916439"/>
                  <a:pt x="6285695" y="2118692"/>
                </a:cubicBezTo>
                <a:cubicBezTo>
                  <a:pt x="6033204" y="2133843"/>
                  <a:pt x="5963664" y="2140387"/>
                  <a:pt x="5775855" y="2118692"/>
                </a:cubicBezTo>
                <a:cubicBezTo>
                  <a:pt x="5588046" y="2096997"/>
                  <a:pt x="5398992" y="2087400"/>
                  <a:pt x="5140302" y="2118692"/>
                </a:cubicBezTo>
                <a:cubicBezTo>
                  <a:pt x="4881612" y="2149984"/>
                  <a:pt x="4639051" y="2139830"/>
                  <a:pt x="4441891" y="2118692"/>
                </a:cubicBezTo>
                <a:cubicBezTo>
                  <a:pt x="4244731" y="2097554"/>
                  <a:pt x="4164467" y="2103221"/>
                  <a:pt x="3932051" y="2118692"/>
                </a:cubicBezTo>
                <a:cubicBezTo>
                  <a:pt x="3699635" y="2134163"/>
                  <a:pt x="3470125" y="2150315"/>
                  <a:pt x="3170784" y="2118692"/>
                </a:cubicBezTo>
                <a:cubicBezTo>
                  <a:pt x="2871443" y="2087069"/>
                  <a:pt x="2757593" y="2089167"/>
                  <a:pt x="2409516" y="2118692"/>
                </a:cubicBezTo>
                <a:cubicBezTo>
                  <a:pt x="2061439" y="2148217"/>
                  <a:pt x="1963460" y="2113364"/>
                  <a:pt x="1773963" y="2118692"/>
                </a:cubicBezTo>
                <a:cubicBezTo>
                  <a:pt x="1584466" y="2124020"/>
                  <a:pt x="1274042" y="2133884"/>
                  <a:pt x="949838" y="2118692"/>
                </a:cubicBezTo>
                <a:cubicBezTo>
                  <a:pt x="625634" y="2103500"/>
                  <a:pt x="222813" y="2094830"/>
                  <a:pt x="0" y="2118692"/>
                </a:cubicBezTo>
                <a:cubicBezTo>
                  <a:pt x="-25475" y="1890837"/>
                  <a:pt x="11717" y="1732025"/>
                  <a:pt x="0" y="1546645"/>
                </a:cubicBezTo>
                <a:cubicBezTo>
                  <a:pt x="-11717" y="1361265"/>
                  <a:pt x="23504" y="1224193"/>
                  <a:pt x="0" y="1038159"/>
                </a:cubicBezTo>
                <a:cubicBezTo>
                  <a:pt x="-23504" y="852125"/>
                  <a:pt x="-7217" y="618629"/>
                  <a:pt x="0" y="487299"/>
                </a:cubicBezTo>
                <a:cubicBezTo>
                  <a:pt x="7217" y="355969"/>
                  <a:pt x="-1350" y="242274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39995810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6E2A83DD-3E4E-46BF-AB60-92D4954D07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61" y="5034386"/>
            <a:ext cx="980246" cy="980246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018E959A-E562-489A-AA41-492F7A0C22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48" y="5034385"/>
            <a:ext cx="982252" cy="98225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038EF9C-A997-48A7-9616-B0E8D8920B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190" y="5034385"/>
            <a:ext cx="978047" cy="978047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66D68E7-F3AF-4735-9FBF-C407D79E4B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768" y="5034385"/>
            <a:ext cx="978047" cy="97804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922F74C5-F740-4E01-9CF0-47981044B15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345" y="5034385"/>
            <a:ext cx="978047" cy="97804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9EFA4525-79D7-461E-833B-179D520AAB1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81" y="4015034"/>
            <a:ext cx="980247" cy="980247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B57802E4-3EFD-4C27-BCA5-91543822CD8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48" y="4008833"/>
            <a:ext cx="982252" cy="982252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DF5A6D21-9889-4394-A053-725F7FEFACC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189" y="4008832"/>
            <a:ext cx="980247" cy="980247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93A6D2EF-A3E8-45B5-BE61-2CAE9BDBD94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767" y="4006237"/>
            <a:ext cx="980247" cy="98024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7138E8E8-06F0-43FF-8244-60E968257F6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344" y="4006237"/>
            <a:ext cx="980247" cy="980247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6E97875D-EBC8-48DA-9024-0B45EB3A273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77" y="2812939"/>
            <a:ext cx="973554" cy="982250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BC218A24-50DA-4CCF-B4D9-90466FE4833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045" y="2812937"/>
            <a:ext cx="973555" cy="98225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B5696DC6-A3C8-4BA9-A5DD-ECA45B6AC16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867" y="2812937"/>
            <a:ext cx="971568" cy="980246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FF92080B-BBE8-4587-8117-C622F65B3FA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802" y="2812939"/>
            <a:ext cx="971568" cy="980246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9C8BEEA2-5ACC-4F0E-8557-F3E9E60EFDB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805" y="2812938"/>
            <a:ext cx="971568" cy="980246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51FDB8CC-1FA2-48E0-B2DE-95976B7EC5A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60" y="1780626"/>
            <a:ext cx="971568" cy="980246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BA6411E3-2E93-4519-BF7D-A95890B29F9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221" y="1780626"/>
            <a:ext cx="971569" cy="980247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27BDAF60-E33F-4A7C-8FEB-A8048FAA3440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867" y="1780625"/>
            <a:ext cx="971569" cy="980247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066BD9BB-B68E-43F5-9466-3E1A79CC48A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0800" y="1780626"/>
            <a:ext cx="971569" cy="980247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1D177061-E4A6-451E-9CB0-DB369968B1DF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804" y="1780627"/>
            <a:ext cx="971568" cy="980246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A626C04A-C3C5-4BB0-A7AF-DBE0F85A2398}"/>
              </a:ext>
            </a:extLst>
          </p:cNvPr>
          <p:cNvSpPr txBox="1"/>
          <p:nvPr/>
        </p:nvSpPr>
        <p:spPr>
          <a:xfrm>
            <a:off x="244582" y="1849366"/>
            <a:ext cx="553998" cy="1877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Agency FB" panose="020B0503020202020204" pitchFamily="34" charset="0"/>
              </a:rPr>
              <a:t>subSequence-1</a:t>
            </a:r>
            <a:endParaRPr lang="zh-CN" altLang="en-US" sz="2400" dirty="0">
              <a:solidFill>
                <a:schemeClr val="accent1"/>
              </a:solidFill>
              <a:latin typeface="Agency FB" panose="020B0503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C4BEBCE-4FEC-4A4B-8916-1757DBC7CDBF}"/>
              </a:ext>
            </a:extLst>
          </p:cNvPr>
          <p:cNvSpPr txBox="1"/>
          <p:nvPr/>
        </p:nvSpPr>
        <p:spPr>
          <a:xfrm>
            <a:off x="244582" y="4078027"/>
            <a:ext cx="553998" cy="187707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6"/>
                </a:solidFill>
                <a:latin typeface="Agency FB" panose="020B0503020202020204" pitchFamily="34" charset="0"/>
              </a:rPr>
              <a:t>subSequence-2</a:t>
            </a:r>
            <a:endParaRPr lang="zh-CN" altLang="en-US" sz="24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947FB14A-113E-4B2C-B55B-C6C3DD4D8C54}"/>
              </a:ext>
            </a:extLst>
          </p:cNvPr>
          <p:cNvSpPr txBox="1"/>
          <p:nvPr/>
        </p:nvSpPr>
        <p:spPr>
          <a:xfrm>
            <a:off x="5934392" y="1806430"/>
            <a:ext cx="461665" cy="92863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Agency FB" panose="020B0503020202020204" pitchFamily="34" charset="0"/>
              </a:rPr>
              <a:t>Inputs-1</a:t>
            </a:r>
            <a:endParaRPr lang="zh-CN" altLang="en-US" dirty="0">
              <a:solidFill>
                <a:schemeClr val="accent1"/>
              </a:solidFill>
              <a:latin typeface="Agency FB" panose="020B0503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972EDC5-9DB4-4B9F-B72F-8B417A80EAF5}"/>
              </a:ext>
            </a:extLst>
          </p:cNvPr>
          <p:cNvSpPr txBox="1"/>
          <p:nvPr/>
        </p:nvSpPr>
        <p:spPr>
          <a:xfrm>
            <a:off x="5934392" y="2900531"/>
            <a:ext cx="461665" cy="80505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Agency FB" panose="020B0503020202020204" pitchFamily="34" charset="0"/>
              </a:rPr>
              <a:t>GTs-1</a:t>
            </a:r>
            <a:endParaRPr lang="zh-CN" altLang="en-US" dirty="0">
              <a:solidFill>
                <a:schemeClr val="accent1"/>
              </a:solidFill>
              <a:latin typeface="Agency FB" panose="020B0503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0C402CB-7E60-433C-BC4B-20738CEB489E}"/>
              </a:ext>
            </a:extLst>
          </p:cNvPr>
          <p:cNvSpPr txBox="1"/>
          <p:nvPr/>
        </p:nvSpPr>
        <p:spPr>
          <a:xfrm>
            <a:off x="5934392" y="4032242"/>
            <a:ext cx="461665" cy="92863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/>
                </a:solidFill>
                <a:latin typeface="Agency FB" panose="020B0503020202020204" pitchFamily="34" charset="0"/>
              </a:rPr>
              <a:t>Inputs-2</a:t>
            </a:r>
            <a:endParaRPr lang="zh-CN" altLang="en-US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F891EEF-A7FF-448F-98D8-50C9F9FFD4B7}"/>
              </a:ext>
            </a:extLst>
          </p:cNvPr>
          <p:cNvSpPr txBox="1"/>
          <p:nvPr/>
        </p:nvSpPr>
        <p:spPr>
          <a:xfrm>
            <a:off x="5934392" y="5115734"/>
            <a:ext cx="461665" cy="80505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/>
                </a:solidFill>
                <a:latin typeface="Agency FB" panose="020B0503020202020204" pitchFamily="34" charset="0"/>
              </a:rPr>
              <a:t>GTs-2</a:t>
            </a:r>
            <a:endParaRPr lang="zh-CN" altLang="en-US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F7B0B3-40E9-4EE9-8E10-B2E85469D73A}"/>
              </a:ext>
            </a:extLst>
          </p:cNvPr>
          <p:cNvSpPr txBox="1"/>
          <p:nvPr/>
        </p:nvSpPr>
        <p:spPr>
          <a:xfrm>
            <a:off x="1151360" y="908559"/>
            <a:ext cx="9715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rgbClr val="FF0000"/>
                </a:solidFill>
              </a:rPr>
              <a:t>SeqCSIST</a:t>
            </a:r>
            <a:r>
              <a:rPr lang="en-US" altLang="zh-CN" sz="2800" i="1" dirty="0"/>
              <a:t> generation guided by diffraction and resolution theory</a:t>
            </a:r>
            <a:endParaRPr lang="zh-CN" altLang="en-US" sz="28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表格 32">
                <a:extLst>
                  <a:ext uri="{FF2B5EF4-FFF2-40B4-BE49-F238E27FC236}">
                    <a16:creationId xmlns:a16="http://schemas.microsoft.com/office/drawing/2014/main" id="{FC01CFC9-AEB5-465A-85C8-625877BAB0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468535"/>
                  </p:ext>
                </p:extLst>
              </p:nvPr>
            </p:nvGraphicFramePr>
            <p:xfrm>
              <a:off x="6530277" y="2270748"/>
              <a:ext cx="5567925" cy="3513455"/>
            </p:xfrm>
            <a:graphic>
              <a:graphicData uri="http://schemas.openxmlformats.org/drawingml/2006/table">
                <a:tbl>
                  <a:tblPr/>
                  <a:tblGrid>
                    <a:gridCol w="26403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27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Category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/>
                            <a:t>Value / Range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Total frames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i="1" dirty="0"/>
                            <a:t>100,000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335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Number of trajectories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i="1" dirty="0"/>
                            <a:t>5,000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Frames per trajectory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/>
                            <a:t>20 consecutive target crops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Intensity Range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/>
                            <a:t>220~250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/>
                            <a:t>Overlapping target count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/>
                            <a:t>2~4/pixel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𝑷𝑺𝑭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i="1" dirty="0"/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/>
                            <a:t>0.5 pixel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20390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表格 32">
                <a:extLst>
                  <a:ext uri="{FF2B5EF4-FFF2-40B4-BE49-F238E27FC236}">
                    <a16:creationId xmlns:a16="http://schemas.microsoft.com/office/drawing/2014/main" id="{FC01CFC9-AEB5-465A-85C8-625877BAB0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0468535"/>
                  </p:ext>
                </p:extLst>
              </p:nvPr>
            </p:nvGraphicFramePr>
            <p:xfrm>
              <a:off x="6530277" y="2270748"/>
              <a:ext cx="5567925" cy="3513455"/>
            </p:xfrm>
            <a:graphic>
              <a:graphicData uri="http://schemas.openxmlformats.org/drawingml/2006/table">
                <a:tbl>
                  <a:tblPr/>
                  <a:tblGrid>
                    <a:gridCol w="26403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2756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Category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/>
                            <a:t>Value / Range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Total frames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i="1" dirty="0"/>
                            <a:t>100,000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8335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Number of trajectories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i="1" dirty="0"/>
                            <a:t>5,000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Frames per trajectory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/>
                            <a:t>20 consecutive target crops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 dirty="0"/>
                            <a:t>Intensity Range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/>
                            <a:t>220~250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r>
                            <a:rPr lang="en-US" b="1" i="1"/>
                            <a:t>Overlapping target count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/>
                            <a:t>2~4/pixel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775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3"/>
                          <a:stretch>
                            <a:fillRect l="-231" t="-641026" r="-111547" b="-89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i="1" dirty="0"/>
                            <a:t>0.5 pixel</a:t>
                          </a:r>
                        </a:p>
                      </a:txBody>
                      <a:tcPr anchor="ctr">
                        <a:lnL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FE2E5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6F8F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20390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矩形 41">
            <a:extLst>
              <a:ext uri="{FF2B5EF4-FFF2-40B4-BE49-F238E27FC236}">
                <a16:creationId xmlns:a16="http://schemas.microsoft.com/office/drawing/2014/main" id="{56377174-C4A8-4FD5-BA62-42109A1E1039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CAACC7-5534-4253-B5F2-11C60D3F4080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50" name="星形: 五角 49">
            <a:extLst>
              <a:ext uri="{FF2B5EF4-FFF2-40B4-BE49-F238E27FC236}">
                <a16:creationId xmlns:a16="http://schemas.microsoft.com/office/drawing/2014/main" id="{1BCADF9E-90CC-4F16-A2C4-5310373D188A}"/>
              </a:ext>
            </a:extLst>
          </p:cNvPr>
          <p:cNvSpPr/>
          <p:nvPr/>
        </p:nvSpPr>
        <p:spPr>
          <a:xfrm>
            <a:off x="1023243" y="1031640"/>
            <a:ext cx="301841" cy="27705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230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1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Method</a:t>
            </a:r>
            <a:endParaRPr lang="zh-CN" altLang="en-US" i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4A53B9-C335-4CCD-B07B-1A956E8CD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82" y="1118586"/>
            <a:ext cx="8956584" cy="5038078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B89929FE-C7F7-4A5E-8BBB-33DA6E5AE675}"/>
              </a:ext>
            </a:extLst>
          </p:cNvPr>
          <p:cNvSpPr txBox="1"/>
          <p:nvPr/>
        </p:nvSpPr>
        <p:spPr>
          <a:xfrm>
            <a:off x="3820180" y="763197"/>
            <a:ext cx="2348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</a:rPr>
              <a:t>Position Encoder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43CFAB-5AA9-454E-A719-D1AAEB80D381}"/>
              </a:ext>
            </a:extLst>
          </p:cNvPr>
          <p:cNvSpPr txBox="1"/>
          <p:nvPr/>
        </p:nvSpPr>
        <p:spPr>
          <a:xfrm>
            <a:off x="8991818" y="5925831"/>
            <a:ext cx="264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</a:rPr>
              <a:t>Implicit Alignment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97E609A-F255-40F6-80C5-7FB64142977C}"/>
              </a:ext>
            </a:extLst>
          </p:cNvPr>
          <p:cNvSpPr txBox="1"/>
          <p:nvPr/>
        </p:nvSpPr>
        <p:spPr>
          <a:xfrm>
            <a:off x="-23633" y="5171459"/>
            <a:ext cx="2521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</a:rPr>
              <a:t>Sparsity-driven </a:t>
            </a:r>
          </a:p>
          <a:p>
            <a:pPr algn="ctr"/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</a:rPr>
              <a:t>Feature Extraction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78BC1A-B0DB-47F4-991C-BC31D49BB5E6}"/>
              </a:ext>
            </a:extLst>
          </p:cNvPr>
          <p:cNvSpPr txBox="1"/>
          <p:nvPr/>
        </p:nvSpPr>
        <p:spPr>
          <a:xfrm>
            <a:off x="125984" y="811156"/>
            <a:ext cx="2112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 dirty="0">
                <a:solidFill>
                  <a:srgbClr val="FF0000"/>
                </a:solidFill>
              </a:rPr>
              <a:t>DeRefNet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2F9792-FF1B-4BD1-BB44-7443A46AD3F9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94F47A-8BB0-48E0-A8A3-903674ED083F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13" name="星形: 五角 12">
            <a:extLst>
              <a:ext uri="{FF2B5EF4-FFF2-40B4-BE49-F238E27FC236}">
                <a16:creationId xmlns:a16="http://schemas.microsoft.com/office/drawing/2014/main" id="{9EE043CD-66E5-48CF-8E17-16FD63C32CE2}"/>
              </a:ext>
            </a:extLst>
          </p:cNvPr>
          <p:cNvSpPr/>
          <p:nvPr/>
        </p:nvSpPr>
        <p:spPr>
          <a:xfrm>
            <a:off x="125984" y="934237"/>
            <a:ext cx="301841" cy="27705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846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1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Experiment</a:t>
            </a:r>
            <a:endParaRPr lang="zh-CN" altLang="en-US" i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82A347-D8E3-4949-9A68-145DA897D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057" y="695763"/>
            <a:ext cx="5962469" cy="579381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36466B-3737-40E9-A29F-79AD015D5202}"/>
              </a:ext>
            </a:extLst>
          </p:cNvPr>
          <p:cNvSpPr txBox="1"/>
          <p:nvPr/>
        </p:nvSpPr>
        <p:spPr>
          <a:xfrm>
            <a:off x="197224" y="985422"/>
            <a:ext cx="5447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/>
              <a:t>Comparison with State-of-the-Arts</a:t>
            </a:r>
            <a:endParaRPr lang="zh-CN" altLang="en-US" sz="2800" b="1" i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0F0719-4EA3-4D6C-9389-BFBA339B9E3E}"/>
              </a:ext>
            </a:extLst>
          </p:cNvPr>
          <p:cNvSpPr txBox="1"/>
          <p:nvPr/>
        </p:nvSpPr>
        <p:spPr>
          <a:xfrm>
            <a:off x="197224" y="2308194"/>
            <a:ext cx="4811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/>
              <a:t>Metric</a:t>
            </a:r>
            <a:r>
              <a:rPr lang="en-US" altLang="zh-CN" sz="2400" dirty="0"/>
              <a:t> </a:t>
            </a:r>
            <a:r>
              <a:rPr lang="en-US" altLang="zh-CN" sz="2400" i="1" dirty="0"/>
              <a:t>: CSO-</a:t>
            </a:r>
            <a:r>
              <a:rPr lang="en-US" altLang="zh-CN" sz="2400" i="1" dirty="0" err="1"/>
              <a:t>mAP</a:t>
            </a:r>
            <a:endParaRPr lang="zh-CN" altLang="en-US" sz="2400" i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D18A94-4CA8-4637-A13F-D071E28A4811}"/>
              </a:ext>
            </a:extLst>
          </p:cNvPr>
          <p:cNvSpPr txBox="1"/>
          <p:nvPr/>
        </p:nvSpPr>
        <p:spPr>
          <a:xfrm>
            <a:off x="614474" y="3127133"/>
            <a:ext cx="4811697" cy="171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en-US" altLang="zh-CN" sz="2400" b="1" i="1" dirty="0"/>
              <a:t>A </a:t>
            </a:r>
            <a:r>
              <a:rPr lang="en-US" altLang="zh-CN" sz="2400" b="1" i="1" dirty="0">
                <a:solidFill>
                  <a:srgbClr val="FF0000"/>
                </a:solidFill>
              </a:rPr>
              <a:t>toolkit</a:t>
            </a:r>
            <a:r>
              <a:rPr lang="en-US" altLang="zh-CN" sz="2400" b="1" i="1" dirty="0"/>
              <a:t> that provides objective evaluation metrics for this special task, along with the implementation of 23 relevant methods.</a:t>
            </a:r>
            <a:endParaRPr lang="zh-CN" altLang="en-US" sz="2400" i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F9AA55-BF5F-4B32-8F7D-945F8C9CDE9E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811B3F-C229-4504-865D-60106D0827B0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11" name="星形: 五角 10">
            <a:extLst>
              <a:ext uri="{FF2B5EF4-FFF2-40B4-BE49-F238E27FC236}">
                <a16:creationId xmlns:a16="http://schemas.microsoft.com/office/drawing/2014/main" id="{11BB56FF-C3B5-4965-AF35-D7DAFB4CF6FF}"/>
              </a:ext>
            </a:extLst>
          </p:cNvPr>
          <p:cNvSpPr/>
          <p:nvPr/>
        </p:nvSpPr>
        <p:spPr>
          <a:xfrm>
            <a:off x="197224" y="3212051"/>
            <a:ext cx="301841" cy="277057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389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1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Experiment</a:t>
            </a:r>
            <a:endParaRPr lang="zh-CN" altLang="en-US" i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7FE96C-AB00-44E5-A5C9-648061CE2646}"/>
              </a:ext>
            </a:extLst>
          </p:cNvPr>
          <p:cNvSpPr txBox="1"/>
          <p:nvPr/>
        </p:nvSpPr>
        <p:spPr>
          <a:xfrm>
            <a:off x="197224" y="985422"/>
            <a:ext cx="505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/>
              <a:t>Ablation Study</a:t>
            </a:r>
            <a:endParaRPr lang="zh-CN" altLang="en-US" sz="2800" b="1" i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84D7DF-BBD4-46AE-AE8F-BE5EB03B7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8" y="1824934"/>
            <a:ext cx="4972050" cy="17430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8CD960F-4532-4F4B-A9A5-D3C64BD8D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36" y="3884301"/>
            <a:ext cx="10544175" cy="21526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63317A3-222E-429F-8858-1FFF7271A906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37CA23-6D1E-4142-BFAB-0520B1545908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12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1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Experiment</a:t>
            </a:r>
            <a:endParaRPr lang="zh-CN" altLang="en-US" i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7FE96C-AB00-44E5-A5C9-648061CE2646}"/>
              </a:ext>
            </a:extLst>
          </p:cNvPr>
          <p:cNvSpPr txBox="1"/>
          <p:nvPr/>
        </p:nvSpPr>
        <p:spPr>
          <a:xfrm>
            <a:off x="197224" y="985422"/>
            <a:ext cx="5051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/>
              <a:t>Generalization experiment</a:t>
            </a:r>
            <a:endParaRPr lang="zh-CN" altLang="en-US" sz="2800" b="1" i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D9C1D8-03F5-4C71-AF01-B6CF55D3A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819" y="1514475"/>
            <a:ext cx="5143500" cy="1914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70F1491-765E-4203-BCF0-06C2CAF34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169" y="3611547"/>
            <a:ext cx="4876800" cy="25717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C29862C4-DB11-4BAB-9F2F-BFBB52CA946F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20B7D9-2B8A-4985-8417-E304ED97A430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392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0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Visualization</a:t>
            </a:r>
            <a:endParaRPr lang="zh-CN" altLang="en-US" i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93F638-927E-49FF-9381-ED9F7DEA4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311" y="1171877"/>
            <a:ext cx="8751643" cy="4993076"/>
          </a:xfrm>
          <a:prstGeom prst="rect">
            <a:avLst/>
          </a:prstGeom>
        </p:spPr>
      </p:pic>
      <p:sp>
        <p:nvSpPr>
          <p:cNvPr id="60" name="矩形 59">
            <a:extLst>
              <a:ext uri="{FF2B5EF4-FFF2-40B4-BE49-F238E27FC236}">
                <a16:creationId xmlns:a16="http://schemas.microsoft.com/office/drawing/2014/main" id="{0E863AD3-BE1C-4D96-9913-2FBAE0259D29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8E0F637-B5BA-4F02-B1AA-6A9E0BF03437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649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0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Visualization</a:t>
            </a:r>
            <a:endParaRPr lang="zh-CN" altLang="en-US" i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ACFA9D-F894-4910-86EA-7AFFEEB47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45" y="1571349"/>
            <a:ext cx="5640982" cy="37153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837EC0-7FEF-4619-8951-C07A0A538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71349"/>
            <a:ext cx="5604262" cy="37153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D850892-5A54-42AC-9D84-61D8C876D9A7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DCB9E2-00DE-4559-9DCE-7512CE44EE89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2523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A28E6-DD6B-FF63-F3C3-95CA51164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63AC-28C5-CB68-9F86-194236CE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224" y="0"/>
            <a:ext cx="11797552" cy="669129"/>
          </a:xfrm>
        </p:spPr>
        <p:txBody>
          <a:bodyPr/>
          <a:lstStyle/>
          <a:p>
            <a:r>
              <a:rPr lang="en-US" altLang="zh-CN" i="1" dirty="0">
                <a:sym typeface="+mn-ea"/>
              </a:rPr>
              <a:t>Summary</a:t>
            </a:r>
            <a:endParaRPr lang="zh-CN" altLang="en-US" i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8C860A-8BBB-445F-A5BF-D85FF680AE91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040214C-E5F6-46E5-8489-84EC2A48D8E5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09591F-06AD-4299-94D2-CE67100BD63B}"/>
              </a:ext>
            </a:extLst>
          </p:cNvPr>
          <p:cNvSpPr txBox="1"/>
          <p:nvPr/>
        </p:nvSpPr>
        <p:spPr>
          <a:xfrm>
            <a:off x="348145" y="3675221"/>
            <a:ext cx="2398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/>
              <a:t>Contribution</a:t>
            </a:r>
            <a:endParaRPr lang="zh-CN" altLang="en-US" sz="3200" b="1" i="1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60973C3-42B1-4798-A2C1-F2D76605CCBA}"/>
              </a:ext>
            </a:extLst>
          </p:cNvPr>
          <p:cNvSpPr txBox="1"/>
          <p:nvPr/>
        </p:nvSpPr>
        <p:spPr>
          <a:xfrm>
            <a:off x="3204839" y="2293543"/>
            <a:ext cx="8380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</a:rPr>
              <a:t>Novel Task</a:t>
            </a:r>
            <a:r>
              <a:rPr lang="en-US" altLang="zh-CN" sz="2400" b="1" i="1" dirty="0"/>
              <a:t>: We propose a novel task, Sequential CSIST Unmixing, which broadens the definition of IRSTD</a:t>
            </a:r>
            <a:endParaRPr lang="zh-CN" altLang="en-US" sz="2400" b="1" i="1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E0755C8-73FD-4812-83CA-6A4F4BB556BB}"/>
              </a:ext>
            </a:extLst>
          </p:cNvPr>
          <p:cNvSpPr txBox="1"/>
          <p:nvPr/>
        </p:nvSpPr>
        <p:spPr>
          <a:xfrm>
            <a:off x="3204839" y="3429000"/>
            <a:ext cx="83805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Open-Source Ecosystem: </a:t>
            </a:r>
            <a:r>
              <a:rPr lang="en-US" altLang="zh-CN" sz="2800" b="1" i="1" dirty="0"/>
              <a:t>We release an open-source</a:t>
            </a:r>
          </a:p>
          <a:p>
            <a:r>
              <a:rPr lang="en-US" altLang="zh-CN" sz="2800" b="1" i="1" dirty="0"/>
              <a:t> ecosystem for CSIST Unmixing, including the SeqCSIST</a:t>
            </a:r>
          </a:p>
          <a:p>
            <a:r>
              <a:rPr lang="en-US" altLang="zh-CN" sz="2800" b="1" i="1" dirty="0"/>
              <a:t> dataset and a toolkit for benchmarking</a:t>
            </a:r>
            <a:endParaRPr lang="zh-CN" altLang="en-US" sz="2800" b="1" i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F0DA5A0-AC90-4A38-B335-D46F5E3A20B5}"/>
              </a:ext>
            </a:extLst>
          </p:cNvPr>
          <p:cNvSpPr txBox="1"/>
          <p:nvPr/>
        </p:nvSpPr>
        <p:spPr>
          <a:xfrm>
            <a:off x="3204839" y="5069126"/>
            <a:ext cx="83805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</a:rPr>
              <a:t>End-to-End Framework: </a:t>
            </a:r>
            <a:r>
              <a:rPr lang="en-US" altLang="zh-CN" sz="2400" b="1" i="1" dirty="0"/>
              <a:t>We propose DeRefNet, a</a:t>
            </a:r>
          </a:p>
          <a:p>
            <a:r>
              <a:rPr lang="en-US" altLang="zh-CN" sz="2400" b="1" i="1" dirty="0"/>
              <a:t> multi-frame model-driven deep learning architecture with temporal deformable feature alignment</a:t>
            </a:r>
            <a:r>
              <a:rPr lang="en-US" altLang="zh-CN" sz="2800" b="1" i="1" dirty="0"/>
              <a:t>.</a:t>
            </a:r>
            <a:endParaRPr lang="zh-CN" altLang="en-US" sz="2800" b="1" i="1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8CF6223-B2BF-4131-8CF3-AE7FC90A23F5}"/>
              </a:ext>
            </a:extLst>
          </p:cNvPr>
          <p:cNvSpPr txBox="1"/>
          <p:nvPr/>
        </p:nvSpPr>
        <p:spPr>
          <a:xfrm>
            <a:off x="348144" y="856633"/>
            <a:ext cx="116466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/>
              <a:t>This work is </a:t>
            </a:r>
            <a:r>
              <a:rPr lang="en-US" altLang="zh-CN" sz="3200" b="1" i="1" dirty="0">
                <a:solidFill>
                  <a:srgbClr val="FF0000"/>
                </a:solidFill>
              </a:rPr>
              <a:t>the first endeavor </a:t>
            </a:r>
            <a:r>
              <a:rPr lang="en-US" altLang="zh-CN" sz="3200" b="1" i="1" dirty="0"/>
              <a:t>to address the </a:t>
            </a:r>
            <a:r>
              <a:rPr lang="en-US" altLang="zh-CN" sz="3200" b="1" i="1" dirty="0">
                <a:solidFill>
                  <a:srgbClr val="FF0000"/>
                </a:solidFill>
              </a:rPr>
              <a:t>CSIST Unmixing task </a:t>
            </a:r>
            <a:r>
              <a:rPr lang="en-US" altLang="zh-CN" sz="3200" b="1" i="1" dirty="0"/>
              <a:t>within a multi-frame paradigm.</a:t>
            </a:r>
            <a:endParaRPr lang="zh-CN" alt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911862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6C420-AA4E-A123-58D2-878B133F7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8A70262A-EF79-726E-8D20-6E20538ACD47}"/>
              </a:ext>
            </a:extLst>
          </p:cNvPr>
          <p:cNvSpPr txBox="1">
            <a:spLocks/>
          </p:cNvSpPr>
          <p:nvPr/>
        </p:nvSpPr>
        <p:spPr>
          <a:xfrm>
            <a:off x="1992182" y="2357589"/>
            <a:ext cx="8207636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j-cs"/>
              </a:defRPr>
            </a:lvl1pPr>
          </a:lstStyle>
          <a:p>
            <a:pPr algn="ctr"/>
            <a:r>
              <a:rPr lang="en-US" altLang="zh-CN" sz="5400" dirty="0">
                <a:sym typeface="+mn-ea"/>
              </a:rPr>
              <a:t>THANK YOU!</a:t>
            </a:r>
            <a:endParaRPr lang="zh-CN" altLang="en-US" sz="54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DF9BB93-B307-4EB5-A20A-F9661673B5F1}"/>
              </a:ext>
            </a:extLst>
          </p:cNvPr>
          <p:cNvGrpSpPr/>
          <p:nvPr/>
        </p:nvGrpSpPr>
        <p:grpSpPr>
          <a:xfrm>
            <a:off x="3391510" y="4074591"/>
            <a:ext cx="5408980" cy="1463677"/>
            <a:chOff x="3592976" y="4074591"/>
            <a:chExt cx="5408980" cy="1463677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FF63E4C1-81E7-41A6-BD70-8077C4D2DC6F}"/>
                </a:ext>
              </a:extLst>
            </p:cNvPr>
            <p:cNvSpPr txBox="1"/>
            <p:nvPr/>
          </p:nvSpPr>
          <p:spPr>
            <a:xfrm>
              <a:off x="5056653" y="4429698"/>
              <a:ext cx="3945303" cy="96063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1600" dirty="0" err="1">
                  <a:ln w="0"/>
                  <a:ea typeface="华文楷体" panose="02010600040101010101" pitchFamily="2" charset="-122"/>
                </a:rPr>
                <a:t>arXiv</a:t>
              </a:r>
              <a:r>
                <a:rPr lang="en-US" altLang="zh-CN" sz="1600" dirty="0">
                  <a:ln w="0"/>
                  <a:ea typeface="华文楷体" panose="02010600040101010101" pitchFamily="2" charset="-122"/>
                </a:rPr>
                <a:t>: </a:t>
              </a:r>
              <a:r>
                <a:rPr lang="en-US" altLang="zh-CN" sz="1600" dirty="0">
                  <a:ln w="0"/>
                  <a:ea typeface="华文楷体" panose="02010600040101010101" pitchFamily="2" charset="-122"/>
                  <a:hlinkClick r:id="rId3"/>
                </a:rPr>
                <a:t>https://arxiv.org/abs/2507.09556</a:t>
              </a:r>
              <a:endParaRPr lang="en-US" altLang="zh-CN" sz="1600" dirty="0">
                <a:ln w="0"/>
                <a:ea typeface="华文楷体" panose="02010600040101010101" pitchFamily="2" charset="-122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en-US" altLang="zh-CN" sz="1600" dirty="0">
                  <a:ln w="0"/>
                  <a:ea typeface="华文楷体" panose="02010600040101010101" pitchFamily="2" charset="-122"/>
                </a:rPr>
                <a:t>code: </a:t>
              </a:r>
              <a:r>
                <a:rPr lang="en-US" altLang="zh-CN" sz="1600" dirty="0">
                  <a:ln w="0"/>
                  <a:ea typeface="华文楷体" panose="02010600040101010101" pitchFamily="2" charset="-122"/>
                  <a:hlinkClick r:id="rId4"/>
                </a:rPr>
                <a:t>https://github.com/GrokCV/SeqCSIST</a:t>
              </a:r>
              <a:endParaRPr lang="en-US" altLang="zh-CN" sz="1600" dirty="0">
                <a:ln w="0"/>
                <a:ea typeface="华文楷体" panose="02010600040101010101" pitchFamily="2" charset="-122"/>
              </a:endParaRPr>
            </a:p>
            <a:p>
              <a:pPr>
                <a:lnSpc>
                  <a:spcPct val="120000"/>
                </a:lnSpc>
                <a:spcBef>
                  <a:spcPts val="0"/>
                </a:spcBef>
              </a:pPr>
              <a:endParaRPr lang="en-US" altLang="zh-CN" sz="1600" dirty="0">
                <a:ln w="0"/>
                <a:ea typeface="华文楷体" panose="02010600040101010101" pitchFamily="2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ED0ED81-6523-42D3-8283-4571B4FDD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2976" y="4074591"/>
              <a:ext cx="1463677" cy="1463677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A3C3967C-5067-41C2-B9FA-79D01BF945A4}"/>
              </a:ext>
            </a:extLst>
          </p:cNvPr>
          <p:cNvSpPr/>
          <p:nvPr/>
        </p:nvSpPr>
        <p:spPr>
          <a:xfrm>
            <a:off x="0" y="6586142"/>
            <a:ext cx="3530600" cy="30043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翟曦盟</a:t>
            </a:r>
            <a:r>
              <a:rPr lang="en-US" altLang="zh-CN" dirty="0"/>
              <a:t>, Ximeng Zhai 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4A1133-B4F2-40D3-A00B-3C58113EBAB2}"/>
              </a:ext>
            </a:extLst>
          </p:cNvPr>
          <p:cNvSpPr/>
          <p:nvPr/>
        </p:nvSpPr>
        <p:spPr>
          <a:xfrm>
            <a:off x="3530600" y="6586142"/>
            <a:ext cx="7359650" cy="300434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SeqCSIST : Sequential Closely-Spaced Infrared Small Target Unmixing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453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3801</TotalTime>
  <Words>673</Words>
  <Application>Microsoft Office PowerPoint</Application>
  <PresentationFormat>宽屏</PresentationFormat>
  <Paragraphs>143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Agency FB</vt:lpstr>
      <vt:lpstr>Arial</vt:lpstr>
      <vt:lpstr>Calibri</vt:lpstr>
      <vt:lpstr>Cambria Math</vt:lpstr>
      <vt:lpstr>Comic Sans MS</vt:lpstr>
      <vt:lpstr>Times New Roman</vt:lpstr>
      <vt:lpstr>Wingdings</vt:lpstr>
      <vt:lpstr>Office Theme</vt:lpstr>
      <vt:lpstr>[TGRS 2025] SeqCSIST: Sequential Closely-Spaced Infrared Small Target Unmixing</vt:lpstr>
      <vt:lpstr>SeqCSIST: Sequential Closely-Spaced Infrared Small Target Unmixing</vt:lpstr>
      <vt:lpstr>Why Closely-Spaced Infrared Small Target Unmixing? </vt:lpstr>
      <vt:lpstr>Why Closely-Spaced Infrared Small Target Unmixing? </vt:lpstr>
      <vt:lpstr>Why Closely-Spaced Infrared Small Target Unmixing? </vt:lpstr>
      <vt:lpstr>Why Closely-Spaced Infrared Small Target Unmixing? </vt:lpstr>
      <vt:lpstr>How to achieve?</vt:lpstr>
      <vt:lpstr>SeqCSIST Dataset</vt:lpstr>
      <vt:lpstr>Method</vt:lpstr>
      <vt:lpstr>Experiment</vt:lpstr>
      <vt:lpstr>Experiment</vt:lpstr>
      <vt:lpstr>Experiment</vt:lpstr>
      <vt:lpstr>Visualization</vt:lpstr>
      <vt:lpstr>Visualization</vt:lpstr>
      <vt:lpstr>Summary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Administrator</cp:lastModifiedBy>
  <cp:revision>779</cp:revision>
  <dcterms:created xsi:type="dcterms:W3CDTF">2019-08-31T02:02:00Z</dcterms:created>
  <dcterms:modified xsi:type="dcterms:W3CDTF">2025-08-22T07:39:48Z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